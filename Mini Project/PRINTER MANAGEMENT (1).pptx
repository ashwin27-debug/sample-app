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charset="1" panose="00000500000000000000"/>
      <p:regular r:id="rId21"/>
    </p:embeddedFont>
    <p:embeddedFont>
      <p:font typeface="Canva Sans" charset="1" panose="020B0503030501040103"/>
      <p:regular r:id="rId22"/>
    </p:embeddedFont>
    <p:embeddedFont>
      <p:font typeface="League Spartan" charset="1" panose="00000800000000000000"/>
      <p:regular r:id="rId23"/>
    </p:embeddedFont>
    <p:embeddedFont>
      <p:font typeface="Poppins Bold" charset="1" panose="00000800000000000000"/>
      <p:regular r:id="rId24"/>
    </p:embeddedFont>
    <p:embeddedFont>
      <p:font typeface="Glacial Indifference" charset="1" panose="00000000000000000000"/>
      <p:regular r:id="rId25"/>
    </p:embeddedFont>
    <p:embeddedFont>
      <p:font typeface="DM Sans Bold" charset="1" panose="00000000000000000000"/>
      <p:regular r:id="rId26"/>
    </p:embeddedFont>
    <p:embeddedFont>
      <p:font typeface="Poppins Light" charset="1" panose="00000400000000000000"/>
      <p:regular r:id="rId27"/>
    </p:embeddedFont>
    <p:embeddedFont>
      <p:font typeface="DM Sans" charset="1" panose="00000000000000000000"/>
      <p:regular r:id="rId28"/>
    </p:embeddedFont>
    <p:embeddedFont>
      <p:font typeface="FB Magic POP DS" charset="1" panose="02020603020101020101"/>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1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7583687">
            <a:off x="-1282971" y="-10187134"/>
            <a:ext cx="17608566" cy="22831204"/>
          </a:xfrm>
          <a:custGeom>
            <a:avLst/>
            <a:gdLst/>
            <a:ahLst/>
            <a:cxnLst/>
            <a:rect r="r" b="b" t="t" l="l"/>
            <a:pathLst>
              <a:path h="22831204" w="17608566">
                <a:moveTo>
                  <a:pt x="0" y="0"/>
                </a:moveTo>
                <a:lnTo>
                  <a:pt x="17608566" y="0"/>
                </a:lnTo>
                <a:lnTo>
                  <a:pt x="17608566" y="22831204"/>
                </a:lnTo>
                <a:lnTo>
                  <a:pt x="0" y="228312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536305" y="-2719999"/>
            <a:ext cx="4993590" cy="7152277"/>
          </a:xfrm>
          <a:custGeom>
            <a:avLst/>
            <a:gdLst/>
            <a:ahLst/>
            <a:cxnLst/>
            <a:rect r="r" b="b" t="t" l="l"/>
            <a:pathLst>
              <a:path h="7152277" w="4993590">
                <a:moveTo>
                  <a:pt x="4993589" y="7152277"/>
                </a:moveTo>
                <a:lnTo>
                  <a:pt x="0" y="7152277"/>
                </a:lnTo>
                <a:lnTo>
                  <a:pt x="0" y="0"/>
                </a:lnTo>
                <a:lnTo>
                  <a:pt x="4993589" y="0"/>
                </a:lnTo>
                <a:lnTo>
                  <a:pt x="4993589" y="7152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700000">
            <a:off x="13305081" y="-4672398"/>
            <a:ext cx="14038382" cy="8984564"/>
          </a:xfrm>
          <a:custGeom>
            <a:avLst/>
            <a:gdLst/>
            <a:ahLst/>
            <a:cxnLst/>
            <a:rect r="r" b="b" t="t" l="l"/>
            <a:pathLst>
              <a:path h="8984564" w="14038382">
                <a:moveTo>
                  <a:pt x="0" y="0"/>
                </a:moveTo>
                <a:lnTo>
                  <a:pt x="14038382" y="0"/>
                </a:lnTo>
                <a:lnTo>
                  <a:pt x="14038382" y="8984565"/>
                </a:lnTo>
                <a:lnTo>
                  <a:pt x="0" y="8984565"/>
                </a:lnTo>
                <a:lnTo>
                  <a:pt x="0" y="0"/>
                </a:lnTo>
                <a:close/>
              </a:path>
            </a:pathLst>
          </a:custGeom>
          <a:blipFill>
            <a:blip r:embed="rId6"/>
            <a:stretch>
              <a:fillRect l="0" t="0" r="0" b="0"/>
            </a:stretch>
          </a:blipFill>
        </p:spPr>
      </p:sp>
      <p:sp>
        <p:nvSpPr>
          <p:cNvPr name="Freeform 5" id="5"/>
          <p:cNvSpPr/>
          <p:nvPr/>
        </p:nvSpPr>
        <p:spPr>
          <a:xfrm flipH="false" flipV="false" rot="3216312">
            <a:off x="2030306" y="-2391021"/>
            <a:ext cx="17608566" cy="22831204"/>
          </a:xfrm>
          <a:custGeom>
            <a:avLst/>
            <a:gdLst/>
            <a:ahLst/>
            <a:cxnLst/>
            <a:rect r="r" b="b" t="t" l="l"/>
            <a:pathLst>
              <a:path h="22831204" w="17608566">
                <a:moveTo>
                  <a:pt x="0" y="0"/>
                </a:moveTo>
                <a:lnTo>
                  <a:pt x="17608567" y="0"/>
                </a:lnTo>
                <a:lnTo>
                  <a:pt x="17608567" y="22831204"/>
                </a:lnTo>
                <a:lnTo>
                  <a:pt x="0" y="228312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10800000">
            <a:off x="-1468095" y="5902325"/>
            <a:ext cx="4993590" cy="7152277"/>
          </a:xfrm>
          <a:custGeom>
            <a:avLst/>
            <a:gdLst/>
            <a:ahLst/>
            <a:cxnLst/>
            <a:rect r="r" b="b" t="t" l="l"/>
            <a:pathLst>
              <a:path h="7152277" w="4993590">
                <a:moveTo>
                  <a:pt x="4993590" y="7152277"/>
                </a:moveTo>
                <a:lnTo>
                  <a:pt x="0" y="7152277"/>
                </a:lnTo>
                <a:lnTo>
                  <a:pt x="0" y="0"/>
                </a:lnTo>
                <a:lnTo>
                  <a:pt x="4993590" y="0"/>
                </a:lnTo>
                <a:lnTo>
                  <a:pt x="4993590" y="7152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8302113" y="7148960"/>
            <a:ext cx="14038382" cy="8984564"/>
          </a:xfrm>
          <a:custGeom>
            <a:avLst/>
            <a:gdLst/>
            <a:ahLst/>
            <a:cxnLst/>
            <a:rect r="r" b="b" t="t" l="l"/>
            <a:pathLst>
              <a:path h="8984564" w="14038382">
                <a:moveTo>
                  <a:pt x="0" y="0"/>
                </a:moveTo>
                <a:lnTo>
                  <a:pt x="14038382" y="0"/>
                </a:lnTo>
                <a:lnTo>
                  <a:pt x="14038382" y="8984564"/>
                </a:lnTo>
                <a:lnTo>
                  <a:pt x="0" y="8984564"/>
                </a:lnTo>
                <a:lnTo>
                  <a:pt x="0" y="0"/>
                </a:lnTo>
                <a:close/>
              </a:path>
            </a:pathLst>
          </a:custGeom>
          <a:blipFill>
            <a:blip r:embed="rId6"/>
            <a:stretch>
              <a:fillRect l="0" t="0" r="0" b="0"/>
            </a:stretch>
          </a:blipFill>
        </p:spPr>
      </p:sp>
      <p:sp>
        <p:nvSpPr>
          <p:cNvPr name="TextBox 8" id="8"/>
          <p:cNvSpPr txBox="true"/>
          <p:nvPr/>
        </p:nvSpPr>
        <p:spPr>
          <a:xfrm rot="0">
            <a:off x="2949990" y="5826125"/>
            <a:ext cx="6856918" cy="4191000"/>
          </a:xfrm>
          <a:prstGeom prst="rect">
            <a:avLst/>
          </a:prstGeom>
        </p:spPr>
        <p:txBody>
          <a:bodyPr anchor="t" rtlCol="false" tIns="0" lIns="0" bIns="0" rIns="0">
            <a:spAutoFit/>
          </a:bodyPr>
          <a:lstStyle/>
          <a:p>
            <a:pPr algn="just">
              <a:lnSpc>
                <a:spcPts val="4199"/>
              </a:lnSpc>
            </a:pPr>
            <a:r>
              <a:rPr lang="en-US" sz="2999">
                <a:solidFill>
                  <a:srgbClr val="FDFDFD"/>
                </a:solidFill>
                <a:latin typeface="Poppins"/>
                <a:ea typeface="Poppins"/>
                <a:cs typeface="Poppins"/>
                <a:sym typeface="Poppins"/>
              </a:rPr>
              <a:t>CREATED BY</a:t>
            </a:r>
          </a:p>
          <a:p>
            <a:pPr algn="just">
              <a:lnSpc>
                <a:spcPts val="4199"/>
              </a:lnSpc>
            </a:pPr>
          </a:p>
          <a:p>
            <a:pPr algn="just">
              <a:lnSpc>
                <a:spcPts val="4199"/>
              </a:lnSpc>
            </a:pPr>
            <a:r>
              <a:rPr lang="en-US" sz="2999">
                <a:solidFill>
                  <a:srgbClr val="FDFDFD"/>
                </a:solidFill>
                <a:latin typeface="Poppins"/>
                <a:ea typeface="Poppins"/>
                <a:cs typeface="Poppins"/>
                <a:sym typeface="Poppins"/>
              </a:rPr>
              <a:t>         SIDDHARTH.K </a:t>
            </a:r>
          </a:p>
          <a:p>
            <a:pPr algn="just">
              <a:lnSpc>
                <a:spcPts val="4199"/>
              </a:lnSpc>
            </a:pPr>
            <a:r>
              <a:rPr lang="en-US" sz="2999">
                <a:solidFill>
                  <a:srgbClr val="FDFDFD"/>
                </a:solidFill>
                <a:latin typeface="Poppins"/>
                <a:ea typeface="Poppins"/>
                <a:cs typeface="Poppins"/>
                <a:sym typeface="Poppins"/>
              </a:rPr>
              <a:t>         JEEVA.P</a:t>
            </a:r>
          </a:p>
          <a:p>
            <a:pPr algn="just">
              <a:lnSpc>
                <a:spcPts val="4199"/>
              </a:lnSpc>
            </a:pPr>
            <a:r>
              <a:rPr lang="en-US" sz="2999">
                <a:solidFill>
                  <a:srgbClr val="FDFDFD"/>
                </a:solidFill>
                <a:latin typeface="Poppins"/>
                <a:ea typeface="Poppins"/>
                <a:cs typeface="Poppins"/>
                <a:sym typeface="Poppins"/>
              </a:rPr>
              <a:t>         MEERA KRISHNAN.JM</a:t>
            </a:r>
          </a:p>
          <a:p>
            <a:pPr algn="just">
              <a:lnSpc>
                <a:spcPts val="4199"/>
              </a:lnSpc>
            </a:pPr>
            <a:r>
              <a:rPr lang="en-US" sz="2999">
                <a:solidFill>
                  <a:srgbClr val="FDFDFD"/>
                </a:solidFill>
                <a:latin typeface="Poppins"/>
                <a:ea typeface="Poppins"/>
                <a:cs typeface="Poppins"/>
                <a:sym typeface="Poppins"/>
              </a:rPr>
              <a:t>         ASHWIN.K</a:t>
            </a:r>
          </a:p>
          <a:p>
            <a:pPr algn="just">
              <a:lnSpc>
                <a:spcPts val="4199"/>
              </a:lnSpc>
            </a:pPr>
            <a:r>
              <a:rPr lang="en-US" sz="2999">
                <a:solidFill>
                  <a:srgbClr val="FDFDFD"/>
                </a:solidFill>
                <a:latin typeface="Poppins"/>
                <a:ea typeface="Poppins"/>
                <a:cs typeface="Poppins"/>
                <a:sym typeface="Poppins"/>
              </a:rPr>
              <a:t>         NAVVENDIRAN.M</a:t>
            </a:r>
          </a:p>
          <a:p>
            <a:pPr algn="just">
              <a:lnSpc>
                <a:spcPts val="4199"/>
              </a:lnSpc>
            </a:pP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a:t>
            </a:r>
          </a:p>
        </p:txBody>
      </p:sp>
      <p:sp>
        <p:nvSpPr>
          <p:cNvPr name="TextBox 10" id="10"/>
          <p:cNvSpPr txBox="true"/>
          <p:nvPr/>
        </p:nvSpPr>
        <p:spPr>
          <a:xfrm rot="0">
            <a:off x="6992882" y="4160526"/>
            <a:ext cx="3663444" cy="730250"/>
          </a:xfrm>
          <a:prstGeom prst="rect">
            <a:avLst/>
          </a:prstGeom>
        </p:spPr>
        <p:txBody>
          <a:bodyPr anchor="t" rtlCol="false" tIns="0" lIns="0" bIns="0" rIns="0">
            <a:spAutoFit/>
          </a:bodyPr>
          <a:lstStyle/>
          <a:p>
            <a:pPr algn="ctr">
              <a:lnSpc>
                <a:spcPts val="5650"/>
              </a:lnSpc>
              <a:spcBef>
                <a:spcPct val="0"/>
              </a:spcBef>
            </a:pPr>
            <a:r>
              <a:rPr lang="en-US" sz="5000">
                <a:solidFill>
                  <a:srgbClr val="FECF67"/>
                </a:solidFill>
                <a:latin typeface="League Spartan"/>
                <a:ea typeface="League Spartan"/>
                <a:cs typeface="League Spartan"/>
                <a:sym typeface="League Spartan"/>
              </a:rPr>
              <a:t>REVIEW 1</a:t>
            </a:r>
          </a:p>
        </p:txBody>
      </p:sp>
      <p:sp>
        <p:nvSpPr>
          <p:cNvPr name="TextBox 11" id="11"/>
          <p:cNvSpPr txBox="true"/>
          <p:nvPr/>
        </p:nvSpPr>
        <p:spPr>
          <a:xfrm rot="0">
            <a:off x="2007592" y="2103560"/>
            <a:ext cx="14595088" cy="1081405"/>
          </a:xfrm>
          <a:prstGeom prst="rect">
            <a:avLst/>
          </a:prstGeom>
        </p:spPr>
        <p:txBody>
          <a:bodyPr anchor="t" rtlCol="false" tIns="0" lIns="0" bIns="0" rIns="0">
            <a:spAutoFit/>
          </a:bodyPr>
          <a:lstStyle/>
          <a:p>
            <a:pPr algn="ctr">
              <a:lnSpc>
                <a:spcPts val="7909"/>
              </a:lnSpc>
            </a:pPr>
            <a:r>
              <a:rPr lang="en-US" b="true" sz="6999">
                <a:solidFill>
                  <a:srgbClr val="FECF67"/>
                </a:solidFill>
                <a:latin typeface="Poppins Bold"/>
                <a:ea typeface="Poppins Bold"/>
                <a:cs typeface="Poppins Bold"/>
                <a:sym typeface="Poppins Bold"/>
              </a:rPr>
              <a:t>PRINTER MANAGEMENT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4169894" y="7296663"/>
            <a:ext cx="7621689" cy="4526525"/>
          </a:xfrm>
          <a:custGeom>
            <a:avLst/>
            <a:gdLst/>
            <a:ahLst/>
            <a:cxnLst/>
            <a:rect r="r" b="b" t="t" l="l"/>
            <a:pathLst>
              <a:path h="4526525" w="7621689">
                <a:moveTo>
                  <a:pt x="0" y="0"/>
                </a:moveTo>
                <a:lnTo>
                  <a:pt x="7621689" y="0"/>
                </a:lnTo>
                <a:lnTo>
                  <a:pt x="7621689" y="4526524"/>
                </a:lnTo>
                <a:lnTo>
                  <a:pt x="0" y="45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3000957" y="-881525"/>
            <a:ext cx="7621689" cy="4526525"/>
          </a:xfrm>
          <a:custGeom>
            <a:avLst/>
            <a:gdLst/>
            <a:ahLst/>
            <a:cxnLst/>
            <a:rect r="r" b="b" t="t" l="l"/>
            <a:pathLst>
              <a:path h="4526525" w="7621689">
                <a:moveTo>
                  <a:pt x="7621689" y="4526524"/>
                </a:moveTo>
                <a:lnTo>
                  <a:pt x="0" y="4526524"/>
                </a:lnTo>
                <a:lnTo>
                  <a:pt x="0" y="0"/>
                </a:lnTo>
                <a:lnTo>
                  <a:pt x="7621689" y="0"/>
                </a:lnTo>
                <a:lnTo>
                  <a:pt x="7621689" y="45265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4191081" y="-3558068"/>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3063316" y="-534640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477064" y="7293790"/>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7634066" y="740380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TextBox 8" id="8"/>
          <p:cNvSpPr txBox="true"/>
          <p:nvPr/>
        </p:nvSpPr>
        <p:spPr>
          <a:xfrm rot="0">
            <a:off x="2438012" y="760890"/>
            <a:ext cx="13411977" cy="1546225"/>
          </a:xfrm>
          <a:prstGeom prst="rect">
            <a:avLst/>
          </a:prstGeom>
        </p:spPr>
        <p:txBody>
          <a:bodyPr anchor="t" rtlCol="false" tIns="0" lIns="0" bIns="0" rIns="0">
            <a:spAutoFit/>
          </a:bodyPr>
          <a:lstStyle/>
          <a:p>
            <a:pPr algn="ctr">
              <a:lnSpc>
                <a:spcPts val="11299"/>
              </a:lnSpc>
            </a:pPr>
            <a:r>
              <a:rPr lang="en-US" sz="9999">
                <a:gradFill>
                  <a:gsLst>
                    <a:gs pos="0">
                      <a:srgbClr val="8AFAFC">
                        <a:alpha val="100000"/>
                      </a:srgbClr>
                    </a:gs>
                    <a:gs pos="50000">
                      <a:srgbClr val="56BAFF">
                        <a:alpha val="100000"/>
                      </a:srgbClr>
                    </a:gs>
                    <a:gs pos="100000">
                      <a:srgbClr val="A57EFF">
                        <a:alpha val="100000"/>
                      </a:srgbClr>
                    </a:gs>
                  </a:gsLst>
                  <a:path path="circle">
                    <a:fillToRect l="0" r="100000" t="0" b="100000"/>
                  </a:path>
                  <a:tileRect r="0" l="-100000" b="0" t="-100000"/>
                </a:gradFill>
                <a:latin typeface="Poppins"/>
                <a:ea typeface="Poppins"/>
                <a:cs typeface="Poppins"/>
                <a:sym typeface="Poppins"/>
              </a:rPr>
              <a:t>INTRODUCTION</a:t>
            </a:r>
          </a:p>
        </p:txBody>
      </p:sp>
      <p:sp>
        <p:nvSpPr>
          <p:cNvPr name="TextBox 9" id="9"/>
          <p:cNvSpPr txBox="true"/>
          <p:nvPr/>
        </p:nvSpPr>
        <p:spPr>
          <a:xfrm rot="0">
            <a:off x="2438012" y="3643747"/>
            <a:ext cx="13411977" cy="4158112"/>
          </a:xfrm>
          <a:prstGeom prst="rect">
            <a:avLst/>
          </a:prstGeom>
        </p:spPr>
        <p:txBody>
          <a:bodyPr anchor="t" rtlCol="false" tIns="0" lIns="0" bIns="0" rIns="0">
            <a:spAutoFit/>
          </a:bodyPr>
          <a:lstStyle/>
          <a:p>
            <a:pPr algn="ctr" marL="704604" indent="-352302" lvl="1">
              <a:lnSpc>
                <a:spcPts val="3687"/>
              </a:lnSpc>
              <a:buFont typeface="Arial"/>
              <a:buChar char="•"/>
            </a:pPr>
            <a:r>
              <a:rPr lang="en-US" sz="3263">
                <a:solidFill>
                  <a:srgbClr val="FDFDFD"/>
                </a:solidFill>
                <a:latin typeface="Poppins"/>
                <a:ea typeface="Poppins"/>
                <a:cs typeface="Poppins"/>
                <a:sym typeface="Poppins"/>
              </a:rPr>
              <a:t>In distributed c</a:t>
            </a:r>
            <a:r>
              <a:rPr lang="en-US" sz="3263">
                <a:solidFill>
                  <a:srgbClr val="FDFDFD"/>
                </a:solidFill>
                <a:latin typeface="Poppins"/>
                <a:ea typeface="Poppins"/>
                <a:cs typeface="Poppins"/>
                <a:sym typeface="Poppins"/>
              </a:rPr>
              <a:t>omputing environments such as enterprise networks, educational institutions, and shared office infrastructures, printers function as shared peripheral devices accessed by multiple client systems.</a:t>
            </a:r>
          </a:p>
          <a:p>
            <a:pPr algn="ctr">
              <a:lnSpc>
                <a:spcPts val="3687"/>
              </a:lnSpc>
            </a:pPr>
          </a:p>
          <a:p>
            <a:pPr algn="ctr" marL="704604" indent="-352302" lvl="1">
              <a:lnSpc>
                <a:spcPts val="3687"/>
              </a:lnSpc>
              <a:buFont typeface="Arial"/>
              <a:buChar char="•"/>
            </a:pPr>
            <a:r>
              <a:rPr lang="en-US" sz="3263">
                <a:solidFill>
                  <a:srgbClr val="FDFDFD"/>
                </a:solidFill>
                <a:latin typeface="Poppins"/>
                <a:ea typeface="Poppins"/>
                <a:cs typeface="Poppins"/>
                <a:sym typeface="Poppins"/>
              </a:rPr>
              <a:t> However, the absence of centralized monitoring mechanisms often results in inefficient resource utilization, uncontrolled print job execution, increased operational expenditure, and delayed fault detection.</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4281334" y="7623062"/>
            <a:ext cx="7621689" cy="4526525"/>
          </a:xfrm>
          <a:custGeom>
            <a:avLst/>
            <a:gdLst/>
            <a:ahLst/>
            <a:cxnLst/>
            <a:rect r="r" b="b" t="t" l="l"/>
            <a:pathLst>
              <a:path h="4526525" w="7621689">
                <a:moveTo>
                  <a:pt x="0" y="0"/>
                </a:moveTo>
                <a:lnTo>
                  <a:pt x="7621689" y="0"/>
                </a:lnTo>
                <a:lnTo>
                  <a:pt x="7621689" y="4526525"/>
                </a:lnTo>
                <a:lnTo>
                  <a:pt x="0" y="4526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3810844" y="-1983160"/>
            <a:ext cx="7621689" cy="4526525"/>
          </a:xfrm>
          <a:custGeom>
            <a:avLst/>
            <a:gdLst/>
            <a:ahLst/>
            <a:cxnLst/>
            <a:rect r="r" b="b" t="t" l="l"/>
            <a:pathLst>
              <a:path h="4526525" w="7621689">
                <a:moveTo>
                  <a:pt x="7621688" y="4526525"/>
                </a:moveTo>
                <a:lnTo>
                  <a:pt x="0" y="4526525"/>
                </a:lnTo>
                <a:lnTo>
                  <a:pt x="0" y="0"/>
                </a:lnTo>
                <a:lnTo>
                  <a:pt x="7621688" y="0"/>
                </a:lnTo>
                <a:lnTo>
                  <a:pt x="7621688" y="452652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5119648" y="-3773374"/>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3603694" y="-3383787"/>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1413451" y="7666174"/>
            <a:ext cx="4573983" cy="6551278"/>
          </a:xfrm>
          <a:custGeom>
            <a:avLst/>
            <a:gdLst/>
            <a:ahLst/>
            <a:cxnLst/>
            <a:rect r="r" b="b" t="t" l="l"/>
            <a:pathLst>
              <a:path h="6551278" w="4573983">
                <a:moveTo>
                  <a:pt x="4573983" y="6551277"/>
                </a:moveTo>
                <a:lnTo>
                  <a:pt x="0" y="6551277"/>
                </a:lnTo>
                <a:lnTo>
                  <a:pt x="0" y="0"/>
                </a:lnTo>
                <a:lnTo>
                  <a:pt x="4573983" y="0"/>
                </a:lnTo>
                <a:lnTo>
                  <a:pt x="4573983" y="6551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7216020" y="655668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8" id="8"/>
          <p:cNvSpPr/>
          <p:nvPr/>
        </p:nvSpPr>
        <p:spPr>
          <a:xfrm flipH="false" flipV="false" rot="0">
            <a:off x="2275541" y="522917"/>
            <a:ext cx="12844107" cy="8939541"/>
          </a:xfrm>
          <a:custGeom>
            <a:avLst/>
            <a:gdLst/>
            <a:ahLst/>
            <a:cxnLst/>
            <a:rect r="r" b="b" t="t" l="l"/>
            <a:pathLst>
              <a:path h="8939541" w="12844107">
                <a:moveTo>
                  <a:pt x="0" y="0"/>
                </a:moveTo>
                <a:lnTo>
                  <a:pt x="12844107" y="0"/>
                </a:lnTo>
                <a:lnTo>
                  <a:pt x="12844107" y="8939541"/>
                </a:lnTo>
                <a:lnTo>
                  <a:pt x="0" y="8939541"/>
                </a:lnTo>
                <a:lnTo>
                  <a:pt x="0" y="0"/>
                </a:lnTo>
                <a:close/>
              </a:path>
            </a:pathLst>
          </a:custGeom>
          <a:blipFill>
            <a:blip r:embed="rId7"/>
            <a:stretch>
              <a:fillRect l="-4394" t="0" r="-17395" b="-16583"/>
            </a:stretch>
          </a:blipFill>
        </p:spPr>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a:t>
            </a:r>
          </a:p>
        </p:txBody>
      </p:sp>
      <p:sp>
        <p:nvSpPr>
          <p:cNvPr name="TextBox 10" id="10"/>
          <p:cNvSpPr txBox="true"/>
          <p:nvPr/>
        </p:nvSpPr>
        <p:spPr>
          <a:xfrm rot="0">
            <a:off x="9139238" y="4945063"/>
            <a:ext cx="9525" cy="349250"/>
          </a:xfrm>
          <a:prstGeom prst="rect">
            <a:avLst/>
          </a:prstGeom>
        </p:spPr>
        <p:txBody>
          <a:bodyPr anchor="t" rtlCol="false" tIns="0" lIns="0" bIns="0" rIns="0">
            <a:spAutoFit/>
          </a:bodyPr>
          <a:lstStyle/>
          <a:p>
            <a:pPr algn="ctr">
              <a:lnSpc>
                <a:spcPts val="2800"/>
              </a:lnSpc>
              <a:spcBef>
                <a:spcPct val="0"/>
              </a:spcBef>
            </a:pP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4797408" y="8089986"/>
            <a:ext cx="7621689" cy="4526525"/>
          </a:xfrm>
          <a:custGeom>
            <a:avLst/>
            <a:gdLst/>
            <a:ahLst/>
            <a:cxnLst/>
            <a:rect r="r" b="b" t="t" l="l"/>
            <a:pathLst>
              <a:path h="4526525" w="7621689">
                <a:moveTo>
                  <a:pt x="0" y="0"/>
                </a:moveTo>
                <a:lnTo>
                  <a:pt x="7621689" y="0"/>
                </a:lnTo>
                <a:lnTo>
                  <a:pt x="7621689" y="4526525"/>
                </a:lnTo>
                <a:lnTo>
                  <a:pt x="0" y="4526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4131097" y="-1983160"/>
            <a:ext cx="7621689" cy="4526525"/>
          </a:xfrm>
          <a:custGeom>
            <a:avLst/>
            <a:gdLst/>
            <a:ahLst/>
            <a:cxnLst/>
            <a:rect r="r" b="b" t="t" l="l"/>
            <a:pathLst>
              <a:path h="4526525" w="7621689">
                <a:moveTo>
                  <a:pt x="7621689" y="4526525"/>
                </a:moveTo>
                <a:lnTo>
                  <a:pt x="0" y="4526525"/>
                </a:lnTo>
                <a:lnTo>
                  <a:pt x="0" y="0"/>
                </a:lnTo>
                <a:lnTo>
                  <a:pt x="7621689" y="0"/>
                </a:lnTo>
                <a:lnTo>
                  <a:pt x="7621689" y="452652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4858268" y="-4039063"/>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3777051" y="-5563136"/>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1413451" y="7666174"/>
            <a:ext cx="4573983" cy="6551278"/>
          </a:xfrm>
          <a:custGeom>
            <a:avLst/>
            <a:gdLst/>
            <a:ahLst/>
            <a:cxnLst/>
            <a:rect r="r" b="b" t="t" l="l"/>
            <a:pathLst>
              <a:path h="6551278" w="4573983">
                <a:moveTo>
                  <a:pt x="4573983" y="6551277"/>
                </a:moveTo>
                <a:lnTo>
                  <a:pt x="0" y="6551277"/>
                </a:lnTo>
                <a:lnTo>
                  <a:pt x="0" y="0"/>
                </a:lnTo>
                <a:lnTo>
                  <a:pt x="4573983" y="0"/>
                </a:lnTo>
                <a:lnTo>
                  <a:pt x="4573983" y="6551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7990933" y="7674637"/>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TextBox 8" id="8"/>
          <p:cNvSpPr txBox="true"/>
          <p:nvPr/>
        </p:nvSpPr>
        <p:spPr>
          <a:xfrm rot="0">
            <a:off x="2438012" y="845580"/>
            <a:ext cx="13411977" cy="1546225"/>
          </a:xfrm>
          <a:prstGeom prst="rect">
            <a:avLst/>
          </a:prstGeom>
        </p:spPr>
        <p:txBody>
          <a:bodyPr anchor="t" rtlCol="false" tIns="0" lIns="0" bIns="0" rIns="0">
            <a:spAutoFit/>
          </a:bodyPr>
          <a:lstStyle/>
          <a:p>
            <a:pPr algn="ctr">
              <a:lnSpc>
                <a:spcPts val="11299"/>
              </a:lnSpc>
            </a:pPr>
            <a:r>
              <a:rPr lang="en-US" sz="9999">
                <a:gradFill>
                  <a:gsLst>
                    <a:gs pos="0">
                      <a:srgbClr val="8AFAFC">
                        <a:alpha val="100000"/>
                      </a:srgbClr>
                    </a:gs>
                    <a:gs pos="50000">
                      <a:srgbClr val="56BAFF">
                        <a:alpha val="100000"/>
                      </a:srgbClr>
                    </a:gs>
                    <a:gs pos="100000">
                      <a:srgbClr val="A57EFF">
                        <a:alpha val="100000"/>
                      </a:srgbClr>
                    </a:gs>
                  </a:gsLst>
                  <a:path path="circle">
                    <a:fillToRect l="0" r="100000" t="0" b="100000"/>
                  </a:path>
                  <a:tileRect r="0" l="-100000" b="0" t="-100000"/>
                </a:gradFill>
                <a:latin typeface="Poppins"/>
                <a:ea typeface="Poppins"/>
                <a:cs typeface="Poppins"/>
                <a:sym typeface="Poppins"/>
              </a:rPr>
              <a:t>OVERVIEW </a:t>
            </a:r>
          </a:p>
        </p:txBody>
      </p:sp>
      <p:sp>
        <p:nvSpPr>
          <p:cNvPr name="TextBox 9" id="9"/>
          <p:cNvSpPr txBox="true"/>
          <p:nvPr/>
        </p:nvSpPr>
        <p:spPr>
          <a:xfrm rot="0">
            <a:off x="2932738" y="3170659"/>
            <a:ext cx="13278333" cy="5578476"/>
          </a:xfrm>
          <a:prstGeom prst="rect">
            <a:avLst/>
          </a:prstGeom>
        </p:spPr>
        <p:txBody>
          <a:bodyPr anchor="t" rtlCol="false" tIns="0" lIns="0" bIns="0" rIns="0">
            <a:spAutoFit/>
          </a:bodyPr>
          <a:lstStyle/>
          <a:p>
            <a:pPr algn="ctr">
              <a:lnSpc>
                <a:spcPts val="4899"/>
              </a:lnSpc>
            </a:pPr>
            <a:r>
              <a:rPr lang="en-US" sz="3499">
                <a:solidFill>
                  <a:srgbClr val="F5FFFF"/>
                </a:solidFill>
                <a:latin typeface="Poppins"/>
                <a:ea typeface="Poppins"/>
                <a:cs typeface="Poppins"/>
                <a:sym typeface="Poppins"/>
              </a:rPr>
              <a:t>The Printer Monitoring Website is a web-based application developed to monitor and manage printer activities within</a:t>
            </a:r>
            <a:r>
              <a:rPr lang="en-US" sz="3499">
                <a:solidFill>
                  <a:srgbClr val="F5FFFF"/>
                </a:solidFill>
                <a:latin typeface="Poppins"/>
                <a:ea typeface="Poppins"/>
                <a:cs typeface="Poppins"/>
                <a:sym typeface="Poppins"/>
              </a:rPr>
              <a:t> an organization or institution. In many offices and computer laboratories, printers are shared among multiple users, which often leads to excessive paper usage, toner wastage, untracked print jobs, and difficulty in identifying printer errors. This project aims to provide a centralized system to track printer status, monitor print jobs, and generate usage reports in real time</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4</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3448456" y="8164278"/>
            <a:ext cx="7621689" cy="4526525"/>
          </a:xfrm>
          <a:custGeom>
            <a:avLst/>
            <a:gdLst/>
            <a:ahLst/>
            <a:cxnLst/>
            <a:rect r="r" b="b" t="t" l="l"/>
            <a:pathLst>
              <a:path h="4526525" w="7621689">
                <a:moveTo>
                  <a:pt x="0" y="0"/>
                </a:moveTo>
                <a:lnTo>
                  <a:pt x="7621688" y="0"/>
                </a:lnTo>
                <a:lnTo>
                  <a:pt x="7621688" y="4526525"/>
                </a:lnTo>
                <a:lnTo>
                  <a:pt x="0" y="4526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3271212" y="-1292363"/>
            <a:ext cx="7621689" cy="4526525"/>
          </a:xfrm>
          <a:custGeom>
            <a:avLst/>
            <a:gdLst/>
            <a:ahLst/>
            <a:cxnLst/>
            <a:rect r="r" b="b" t="t" l="l"/>
            <a:pathLst>
              <a:path h="4526525" w="7621689">
                <a:moveTo>
                  <a:pt x="7621689" y="4526525"/>
                </a:moveTo>
                <a:lnTo>
                  <a:pt x="0" y="4526525"/>
                </a:lnTo>
                <a:lnTo>
                  <a:pt x="0" y="0"/>
                </a:lnTo>
                <a:lnTo>
                  <a:pt x="7621689" y="0"/>
                </a:lnTo>
                <a:lnTo>
                  <a:pt x="7621689" y="452652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4191081" y="-3558068"/>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3868611" y="-4438087"/>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477064" y="7293790"/>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8443232" y="6631415"/>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TextBox 8" id="8"/>
          <p:cNvSpPr txBox="true"/>
          <p:nvPr/>
        </p:nvSpPr>
        <p:spPr>
          <a:xfrm rot="0">
            <a:off x="3066096" y="1000125"/>
            <a:ext cx="13411977" cy="1242695"/>
          </a:xfrm>
          <a:prstGeom prst="rect">
            <a:avLst/>
          </a:prstGeom>
        </p:spPr>
        <p:txBody>
          <a:bodyPr anchor="t" rtlCol="false" tIns="0" lIns="0" bIns="0" rIns="0">
            <a:spAutoFit/>
          </a:bodyPr>
          <a:lstStyle/>
          <a:p>
            <a:pPr algn="ctr">
              <a:lnSpc>
                <a:spcPts val="9040"/>
              </a:lnSpc>
            </a:pPr>
            <a:r>
              <a:rPr lang="en-US" sz="8000">
                <a:gradFill>
                  <a:gsLst>
                    <a:gs pos="0">
                      <a:srgbClr val="8AFAFC">
                        <a:alpha val="100000"/>
                      </a:srgbClr>
                    </a:gs>
                    <a:gs pos="50000">
                      <a:srgbClr val="56BAFF">
                        <a:alpha val="100000"/>
                      </a:srgbClr>
                    </a:gs>
                    <a:gs pos="100000">
                      <a:srgbClr val="A57EFF">
                        <a:alpha val="100000"/>
                      </a:srgbClr>
                    </a:gs>
                  </a:gsLst>
                  <a:path path="circle">
                    <a:fillToRect l="0" r="100000" t="0" b="100000"/>
                  </a:path>
                  <a:tileRect r="0" l="-100000" b="0" t="-100000"/>
                </a:gradFill>
                <a:latin typeface="Poppins"/>
                <a:ea typeface="Poppins"/>
                <a:cs typeface="Poppins"/>
                <a:sym typeface="Poppins"/>
              </a:rPr>
              <a:t>PROJECT REQUIREMENTS </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5</a:t>
            </a:r>
          </a:p>
        </p:txBody>
      </p:sp>
      <p:sp>
        <p:nvSpPr>
          <p:cNvPr name="TextBox 10" id="10"/>
          <p:cNvSpPr txBox="true"/>
          <p:nvPr/>
        </p:nvSpPr>
        <p:spPr>
          <a:xfrm rot="0">
            <a:off x="1453202" y="4370667"/>
            <a:ext cx="6436421" cy="4281561"/>
          </a:xfrm>
          <a:prstGeom prst="rect">
            <a:avLst/>
          </a:prstGeom>
        </p:spPr>
        <p:txBody>
          <a:bodyPr anchor="t" rtlCol="false" tIns="0" lIns="0" bIns="0" rIns="0">
            <a:spAutoFit/>
          </a:bodyPr>
          <a:lstStyle/>
          <a:p>
            <a:pPr algn="l" marL="811400" indent="-405700" lvl="1">
              <a:lnSpc>
                <a:spcPts val="4246"/>
              </a:lnSpc>
              <a:buFont typeface="Arial"/>
              <a:buChar char="•"/>
            </a:pPr>
            <a:r>
              <a:rPr lang="en-US" sz="3758">
                <a:solidFill>
                  <a:srgbClr val="FFFFFF"/>
                </a:solidFill>
                <a:latin typeface="Glacial Indifference"/>
                <a:ea typeface="Glacial Indifference"/>
                <a:cs typeface="Glacial Indifference"/>
                <a:sym typeface="Glacial Indifference"/>
              </a:rPr>
              <a:t>VISUAL STUDIO CODE (IDE)</a:t>
            </a:r>
          </a:p>
          <a:p>
            <a:pPr algn="l">
              <a:lnSpc>
                <a:spcPts val="4246"/>
              </a:lnSpc>
            </a:pPr>
          </a:p>
          <a:p>
            <a:pPr algn="l" marL="811400" indent="-405700" lvl="1">
              <a:lnSpc>
                <a:spcPts val="4246"/>
              </a:lnSpc>
              <a:buFont typeface="Arial"/>
              <a:buChar char="•"/>
            </a:pPr>
            <a:r>
              <a:rPr lang="en-US" sz="3758">
                <a:solidFill>
                  <a:srgbClr val="FFFFFF"/>
                </a:solidFill>
                <a:latin typeface="Glacial Indifference"/>
                <a:ea typeface="Glacial Indifference"/>
                <a:cs typeface="Glacial Indifference"/>
                <a:sym typeface="Glacial Indifference"/>
              </a:rPr>
              <a:t>XAMPP (LOCAL SERVER)</a:t>
            </a:r>
          </a:p>
          <a:p>
            <a:pPr algn="l">
              <a:lnSpc>
                <a:spcPts val="4246"/>
              </a:lnSpc>
            </a:pPr>
          </a:p>
          <a:p>
            <a:pPr algn="l" marL="811400" indent="-405700" lvl="1">
              <a:lnSpc>
                <a:spcPts val="4246"/>
              </a:lnSpc>
              <a:buFont typeface="Arial"/>
              <a:buChar char="•"/>
            </a:pPr>
            <a:r>
              <a:rPr lang="en-US" sz="3758">
                <a:solidFill>
                  <a:srgbClr val="FFFFFF"/>
                </a:solidFill>
                <a:latin typeface="Glacial Indifference"/>
                <a:ea typeface="Glacial Indifference"/>
                <a:cs typeface="Glacial Indifference"/>
                <a:sym typeface="Glacial Indifference"/>
              </a:rPr>
              <a:t>GOOGLE CHROME (WEB BROWSER)</a:t>
            </a:r>
          </a:p>
          <a:p>
            <a:pPr algn="l">
              <a:lnSpc>
                <a:spcPts val="4246"/>
              </a:lnSpc>
            </a:pPr>
          </a:p>
        </p:txBody>
      </p:sp>
      <p:sp>
        <p:nvSpPr>
          <p:cNvPr name="TextBox 11" id="11"/>
          <p:cNvSpPr txBox="true"/>
          <p:nvPr/>
        </p:nvSpPr>
        <p:spPr>
          <a:xfrm rot="0">
            <a:off x="9018151" y="3271308"/>
            <a:ext cx="5935266" cy="626110"/>
          </a:xfrm>
          <a:prstGeom prst="rect">
            <a:avLst/>
          </a:prstGeom>
        </p:spPr>
        <p:txBody>
          <a:bodyPr anchor="t" rtlCol="false" tIns="0" lIns="0" bIns="0" rIns="0">
            <a:spAutoFit/>
          </a:bodyPr>
          <a:lstStyle/>
          <a:p>
            <a:pPr algn="ctr">
              <a:lnSpc>
                <a:spcPts val="4519"/>
              </a:lnSpc>
              <a:spcBef>
                <a:spcPct val="0"/>
              </a:spcBef>
            </a:pPr>
            <a:r>
              <a:rPr lang="en-US" b="true" sz="3999" u="sng">
                <a:solidFill>
                  <a:srgbClr val="FECF67"/>
                </a:solidFill>
                <a:latin typeface="Poppins Bold"/>
                <a:ea typeface="Poppins Bold"/>
                <a:cs typeface="Poppins Bold"/>
                <a:sym typeface="Poppins Bold"/>
              </a:rPr>
              <a:t>PROGRAMMING STACK </a:t>
            </a:r>
          </a:p>
        </p:txBody>
      </p:sp>
      <p:sp>
        <p:nvSpPr>
          <p:cNvPr name="TextBox 12" id="12"/>
          <p:cNvSpPr txBox="true"/>
          <p:nvPr/>
        </p:nvSpPr>
        <p:spPr>
          <a:xfrm rot="0">
            <a:off x="1617756" y="3271308"/>
            <a:ext cx="5540573" cy="626110"/>
          </a:xfrm>
          <a:prstGeom prst="rect">
            <a:avLst/>
          </a:prstGeom>
        </p:spPr>
        <p:txBody>
          <a:bodyPr anchor="t" rtlCol="false" tIns="0" lIns="0" bIns="0" rIns="0">
            <a:spAutoFit/>
          </a:bodyPr>
          <a:lstStyle/>
          <a:p>
            <a:pPr algn="ctr">
              <a:lnSpc>
                <a:spcPts val="4519"/>
              </a:lnSpc>
              <a:spcBef>
                <a:spcPct val="0"/>
              </a:spcBef>
            </a:pPr>
            <a:r>
              <a:rPr lang="en-US" b="true" sz="3999" u="sng">
                <a:solidFill>
                  <a:srgbClr val="FECF67"/>
                </a:solidFill>
                <a:latin typeface="Poppins Bold"/>
                <a:ea typeface="Poppins Bold"/>
                <a:cs typeface="Poppins Bold"/>
                <a:sym typeface="Poppins Bold"/>
              </a:rPr>
              <a:t>DEVELOPMENT TOOLS </a:t>
            </a:r>
          </a:p>
        </p:txBody>
      </p:sp>
      <p:sp>
        <p:nvSpPr>
          <p:cNvPr name="TextBox 13" id="13"/>
          <p:cNvSpPr txBox="true"/>
          <p:nvPr/>
        </p:nvSpPr>
        <p:spPr>
          <a:xfrm rot="0">
            <a:off x="8504903" y="4370667"/>
            <a:ext cx="9556953" cy="2186798"/>
          </a:xfrm>
          <a:prstGeom prst="rect">
            <a:avLst/>
          </a:prstGeom>
        </p:spPr>
        <p:txBody>
          <a:bodyPr anchor="t" rtlCol="false" tIns="0" lIns="0" bIns="0" rIns="0">
            <a:spAutoFit/>
          </a:bodyPr>
          <a:lstStyle/>
          <a:p>
            <a:pPr algn="l" marL="829312" indent="-414656" lvl="1">
              <a:lnSpc>
                <a:spcPts val="4340"/>
              </a:lnSpc>
              <a:buFont typeface="Arial"/>
              <a:buChar char="•"/>
            </a:pPr>
            <a:r>
              <a:rPr lang="en-US" sz="3841">
                <a:solidFill>
                  <a:srgbClr val="FFFFFF"/>
                </a:solidFill>
                <a:latin typeface="Glacial Indifference"/>
                <a:ea typeface="Glacial Indifference"/>
                <a:cs typeface="Glacial Indifference"/>
                <a:sym typeface="Glacial Indifference"/>
              </a:rPr>
              <a:t>CLIENT-SIDE: HTML, CSS, JAVASCRIPT</a:t>
            </a:r>
          </a:p>
          <a:p>
            <a:pPr algn="l">
              <a:lnSpc>
                <a:spcPts val="4340"/>
              </a:lnSpc>
            </a:pPr>
          </a:p>
          <a:p>
            <a:pPr algn="l" marL="829312" indent="-414656" lvl="1">
              <a:lnSpc>
                <a:spcPts val="4340"/>
              </a:lnSpc>
              <a:buFont typeface="Arial"/>
              <a:buChar char="•"/>
            </a:pPr>
            <a:r>
              <a:rPr lang="en-US" sz="3841">
                <a:solidFill>
                  <a:srgbClr val="FFFFFF"/>
                </a:solidFill>
                <a:latin typeface="Glacial Indifference"/>
                <a:ea typeface="Glacial Indifference"/>
                <a:cs typeface="Glacial Indifference"/>
                <a:sym typeface="Glacial Indifference"/>
              </a:rPr>
              <a:t>SERVER- SIDE: PHP, MYSQL,POWERSHELL</a:t>
            </a:r>
          </a:p>
          <a:p>
            <a:pPr algn="l">
              <a:lnSpc>
                <a:spcPts val="4340"/>
              </a:lnSpc>
            </a:pP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4272391" y="7905192"/>
            <a:ext cx="7621689" cy="4526525"/>
          </a:xfrm>
          <a:custGeom>
            <a:avLst/>
            <a:gdLst/>
            <a:ahLst/>
            <a:cxnLst/>
            <a:rect r="r" b="b" t="t" l="l"/>
            <a:pathLst>
              <a:path h="4526525" w="7621689">
                <a:moveTo>
                  <a:pt x="0" y="0"/>
                </a:moveTo>
                <a:lnTo>
                  <a:pt x="7621689" y="0"/>
                </a:lnTo>
                <a:lnTo>
                  <a:pt x="7621689" y="4526524"/>
                </a:lnTo>
                <a:lnTo>
                  <a:pt x="0" y="45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4396688" y="-1904335"/>
            <a:ext cx="7621689" cy="4526525"/>
          </a:xfrm>
          <a:custGeom>
            <a:avLst/>
            <a:gdLst/>
            <a:ahLst/>
            <a:cxnLst/>
            <a:rect r="r" b="b" t="t" l="l"/>
            <a:pathLst>
              <a:path h="4526525" w="7621689">
                <a:moveTo>
                  <a:pt x="7621689" y="4526524"/>
                </a:moveTo>
                <a:lnTo>
                  <a:pt x="0" y="4526524"/>
                </a:lnTo>
                <a:lnTo>
                  <a:pt x="0" y="0"/>
                </a:lnTo>
                <a:lnTo>
                  <a:pt x="7621689" y="0"/>
                </a:lnTo>
                <a:lnTo>
                  <a:pt x="7621689" y="45265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4191081" y="-3558068"/>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3063316" y="-534640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1511890" y="8072680"/>
            <a:ext cx="4573983" cy="6551278"/>
          </a:xfrm>
          <a:custGeom>
            <a:avLst/>
            <a:gdLst/>
            <a:ahLst/>
            <a:cxnLst/>
            <a:rect r="r" b="b" t="t" l="l"/>
            <a:pathLst>
              <a:path h="6551278" w="4573983">
                <a:moveTo>
                  <a:pt x="4573984" y="6551277"/>
                </a:moveTo>
                <a:lnTo>
                  <a:pt x="0" y="6551277"/>
                </a:lnTo>
                <a:lnTo>
                  <a:pt x="0" y="0"/>
                </a:lnTo>
                <a:lnTo>
                  <a:pt x="4573984" y="0"/>
                </a:lnTo>
                <a:lnTo>
                  <a:pt x="4573984" y="6551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8724037" y="8192844"/>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TextBox 8" id="8"/>
          <p:cNvSpPr txBox="true"/>
          <p:nvPr/>
        </p:nvSpPr>
        <p:spPr>
          <a:xfrm rot="0">
            <a:off x="3062094" y="870127"/>
            <a:ext cx="13411977" cy="1444625"/>
          </a:xfrm>
          <a:prstGeom prst="rect">
            <a:avLst/>
          </a:prstGeom>
        </p:spPr>
        <p:txBody>
          <a:bodyPr anchor="t" rtlCol="false" tIns="0" lIns="0" bIns="0" rIns="0">
            <a:spAutoFit/>
          </a:bodyPr>
          <a:lstStyle/>
          <a:p>
            <a:pPr algn="ctr">
              <a:lnSpc>
                <a:spcPts val="5650"/>
              </a:lnSpc>
            </a:pPr>
            <a:r>
              <a:rPr lang="en-US" b="true" sz="5000">
                <a:gradFill>
                  <a:gsLst>
                    <a:gs pos="0">
                      <a:srgbClr val="8AFAFC">
                        <a:alpha val="100000"/>
                      </a:srgbClr>
                    </a:gs>
                    <a:gs pos="50000">
                      <a:srgbClr val="56BAFF">
                        <a:alpha val="100000"/>
                      </a:srgbClr>
                    </a:gs>
                    <a:gs pos="100000">
                      <a:srgbClr val="A57EFF">
                        <a:alpha val="100000"/>
                      </a:srgbClr>
                    </a:gs>
                  </a:gsLst>
                  <a:path path="circle">
                    <a:fillToRect l="0" r="100000" t="0" b="100000"/>
                  </a:path>
                  <a:tileRect r="0" l="-100000" b="0" t="-100000"/>
                </a:gradFill>
                <a:latin typeface="DM Sans Bold"/>
                <a:ea typeface="DM Sans Bold"/>
                <a:cs typeface="DM Sans Bold"/>
                <a:sym typeface="DM Sans Bold"/>
              </a:rPr>
              <a:t>ARCHITECTURAL LAYERS AND EXPLANATION</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6</a:t>
            </a:r>
          </a:p>
        </p:txBody>
      </p:sp>
      <p:sp>
        <p:nvSpPr>
          <p:cNvPr name="TextBox 10" id="10"/>
          <p:cNvSpPr txBox="true"/>
          <p:nvPr/>
        </p:nvSpPr>
        <p:spPr>
          <a:xfrm rot="0">
            <a:off x="2647206" y="2409594"/>
            <a:ext cx="8782564" cy="7401242"/>
          </a:xfrm>
          <a:prstGeom prst="rect">
            <a:avLst/>
          </a:prstGeom>
        </p:spPr>
        <p:txBody>
          <a:bodyPr anchor="t" rtlCol="false" tIns="0" lIns="0" bIns="0" rIns="0">
            <a:spAutoFit/>
          </a:bodyPr>
          <a:lstStyle/>
          <a:p>
            <a:pPr algn="l">
              <a:lnSpc>
                <a:spcPts val="3954"/>
              </a:lnSpc>
            </a:pPr>
            <a:r>
              <a:rPr lang="en-US" sz="3499">
                <a:gradFill>
                  <a:gsLst>
                    <a:gs pos="0">
                      <a:srgbClr val="8AFAFC">
                        <a:alpha val="100000"/>
                      </a:srgbClr>
                    </a:gs>
                    <a:gs pos="50000">
                      <a:srgbClr val="56BAFF">
                        <a:alpha val="100000"/>
                      </a:srgbClr>
                    </a:gs>
                    <a:gs pos="100000">
                      <a:srgbClr val="A57EFF">
                        <a:alpha val="100000"/>
                      </a:srgbClr>
                    </a:gs>
                  </a:gsLst>
                  <a:path path="circle">
                    <a:fillToRect l="0" r="100000" t="0" b="100000"/>
                  </a:path>
                  <a:tileRect r="0" l="-100000" b="0" t="-100000"/>
                </a:gradFill>
                <a:latin typeface="Poppins"/>
                <a:ea typeface="Poppins"/>
                <a:cs typeface="Poppins"/>
                <a:sym typeface="Poppins"/>
              </a:rPr>
              <a:t>CLIENT LAYER (PRESENTATION LAYER)</a:t>
            </a:r>
          </a:p>
          <a:p>
            <a:pPr algn="l">
              <a:lnSpc>
                <a:spcPts val="3954"/>
              </a:lnSpc>
            </a:pPr>
          </a:p>
          <a:p>
            <a:pPr algn="l">
              <a:lnSpc>
                <a:spcPts val="3390"/>
              </a:lnSpc>
            </a:pPr>
            <a:r>
              <a:rPr lang="en-US" sz="3000">
                <a:solidFill>
                  <a:srgbClr val="FFFFFF"/>
                </a:solidFill>
                <a:latin typeface="Poppins"/>
                <a:ea typeface="Poppins"/>
                <a:cs typeface="Poppins"/>
                <a:sym typeface="Poppins"/>
              </a:rPr>
              <a:t>Components:</a:t>
            </a:r>
          </a:p>
          <a:p>
            <a:pPr algn="l">
              <a:lnSpc>
                <a:spcPts val="3390"/>
              </a:lnSpc>
            </a:pPr>
          </a:p>
          <a:p>
            <a:pPr algn="l" marL="1295400" indent="-431800" lvl="2">
              <a:lnSpc>
                <a:spcPts val="3390"/>
              </a:lnSpc>
              <a:buFont typeface="Arial"/>
              <a:buChar char="⚬"/>
            </a:pPr>
            <a:r>
              <a:rPr lang="en-US" sz="3000">
                <a:solidFill>
                  <a:srgbClr val="FFFFFF"/>
                </a:solidFill>
                <a:latin typeface="Poppins"/>
                <a:ea typeface="Poppins"/>
                <a:cs typeface="Poppins"/>
                <a:sym typeface="Poppins"/>
              </a:rPr>
              <a:t>Web Browser</a:t>
            </a:r>
          </a:p>
          <a:p>
            <a:pPr algn="l" marL="1295400" indent="-431800" lvl="2">
              <a:lnSpc>
                <a:spcPts val="3390"/>
              </a:lnSpc>
              <a:buFont typeface="Arial"/>
              <a:buChar char="⚬"/>
            </a:pPr>
            <a:r>
              <a:rPr lang="en-US" sz="3000">
                <a:solidFill>
                  <a:srgbClr val="FFFFFF"/>
                </a:solidFill>
                <a:latin typeface="Poppins"/>
                <a:ea typeface="Poppins"/>
                <a:cs typeface="Poppins"/>
                <a:sym typeface="Poppins"/>
              </a:rPr>
              <a:t>HTML, CSS, JavaScript</a:t>
            </a:r>
          </a:p>
          <a:p>
            <a:pPr algn="l">
              <a:lnSpc>
                <a:spcPts val="3390"/>
              </a:lnSpc>
            </a:pPr>
          </a:p>
          <a:p>
            <a:pPr algn="l">
              <a:lnSpc>
                <a:spcPts val="3390"/>
              </a:lnSpc>
            </a:pPr>
          </a:p>
          <a:p>
            <a:pPr algn="l">
              <a:lnSpc>
                <a:spcPts val="3390"/>
              </a:lnSpc>
              <a:spcBef>
                <a:spcPct val="0"/>
              </a:spcBef>
            </a:pPr>
            <a:r>
              <a:rPr lang="en-US" sz="3000">
                <a:solidFill>
                  <a:srgbClr val="FFFFFF"/>
                </a:solidFill>
                <a:latin typeface="Poppins"/>
                <a:ea typeface="Poppins"/>
                <a:cs typeface="Poppins"/>
                <a:sym typeface="Poppins"/>
              </a:rPr>
              <a:t>Functi</a:t>
            </a:r>
            <a:r>
              <a:rPr lang="en-US" sz="3000">
                <a:solidFill>
                  <a:srgbClr val="FFFFFF"/>
                </a:solidFill>
                <a:latin typeface="Poppins"/>
                <a:ea typeface="Poppins"/>
                <a:cs typeface="Poppins"/>
                <a:sym typeface="Poppins"/>
              </a:rPr>
              <a:t>ON:</a:t>
            </a:r>
          </a:p>
          <a:p>
            <a:pPr algn="l">
              <a:lnSpc>
                <a:spcPts val="3390"/>
              </a:lnSpc>
              <a:spcBef>
                <a:spcPct val="0"/>
              </a:spcBef>
            </a:pPr>
          </a:p>
          <a:p>
            <a:pPr algn="l" marL="1295400" indent="-431800" lvl="2">
              <a:lnSpc>
                <a:spcPts val="3390"/>
              </a:lnSpc>
              <a:spcBef>
                <a:spcPct val="0"/>
              </a:spcBef>
              <a:buFont typeface="Arial"/>
              <a:buChar char="⚬"/>
            </a:pPr>
            <a:r>
              <a:rPr lang="en-US" sz="3000">
                <a:solidFill>
                  <a:srgbClr val="FFFFFF"/>
                </a:solidFill>
                <a:latin typeface="Poppins"/>
                <a:ea typeface="Poppins"/>
                <a:cs typeface="Poppins"/>
                <a:sym typeface="Poppins"/>
              </a:rPr>
              <a:t>PROVIDES USER INTERFACE</a:t>
            </a:r>
          </a:p>
          <a:p>
            <a:pPr algn="l" marL="1295400" indent="-431800" lvl="2">
              <a:lnSpc>
                <a:spcPts val="3390"/>
              </a:lnSpc>
              <a:spcBef>
                <a:spcPct val="0"/>
              </a:spcBef>
              <a:buFont typeface="Arial"/>
              <a:buChar char="⚬"/>
            </a:pPr>
            <a:r>
              <a:rPr lang="en-US" sz="3000">
                <a:solidFill>
                  <a:srgbClr val="FFFFFF"/>
                </a:solidFill>
                <a:latin typeface="Poppins"/>
                <a:ea typeface="Poppins"/>
                <a:cs typeface="Poppins"/>
                <a:sym typeface="Poppins"/>
              </a:rPr>
              <a:t>SHOWS PRINT REQUESTS</a:t>
            </a:r>
          </a:p>
          <a:p>
            <a:pPr algn="l" marL="1295400" indent="-431800" lvl="2">
              <a:lnSpc>
                <a:spcPts val="3390"/>
              </a:lnSpc>
              <a:spcBef>
                <a:spcPct val="0"/>
              </a:spcBef>
              <a:buFont typeface="Arial"/>
              <a:buChar char="⚬"/>
            </a:pPr>
            <a:r>
              <a:rPr lang="en-US" sz="3000">
                <a:solidFill>
                  <a:srgbClr val="FFFFFF"/>
                </a:solidFill>
                <a:latin typeface="Poppins"/>
                <a:ea typeface="Poppins"/>
                <a:cs typeface="Poppins"/>
                <a:sym typeface="Poppins"/>
              </a:rPr>
              <a:t>DISPLAYS PRINTER STATUS</a:t>
            </a:r>
          </a:p>
          <a:p>
            <a:pPr algn="l" marL="1295400" indent="-431800" lvl="2">
              <a:lnSpc>
                <a:spcPts val="3390"/>
              </a:lnSpc>
              <a:spcBef>
                <a:spcPct val="0"/>
              </a:spcBef>
              <a:buFont typeface="Arial"/>
              <a:buChar char="⚬"/>
            </a:pPr>
            <a:r>
              <a:rPr lang="en-US" sz="3000">
                <a:solidFill>
                  <a:srgbClr val="FFFFFF"/>
                </a:solidFill>
                <a:latin typeface="Poppins"/>
                <a:ea typeface="Poppins"/>
                <a:cs typeface="Poppins"/>
                <a:sym typeface="Poppins"/>
              </a:rPr>
              <a:t>SHOWS JOB LOGS AND REPORTS</a:t>
            </a:r>
          </a:p>
          <a:p>
            <a:pPr algn="l">
              <a:lnSpc>
                <a:spcPts val="3164"/>
              </a:lnSpc>
              <a:spcBef>
                <a:spcPct val="0"/>
              </a:spcBef>
            </a:pPr>
            <a:r>
              <a:rPr lang="en-US" sz="2800">
                <a:solidFill>
                  <a:srgbClr val="FFFFFF"/>
                </a:solidFill>
                <a:latin typeface="Poppins"/>
                <a:ea typeface="Poppins"/>
                <a:cs typeface="Poppins"/>
                <a:sym typeface="Poppins"/>
              </a:rPr>
              <a:t>USERS INTERACT WITH THE SYSTEM THROUGH A DASHBOARD.</a:t>
            </a:r>
          </a:p>
          <a:p>
            <a:pPr algn="l">
              <a:lnSpc>
                <a:spcPts val="3390"/>
              </a:lnSpc>
              <a:spcBef>
                <a:spcPct val="0"/>
              </a:spcBef>
            </a:pP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7</a:t>
            </a:r>
          </a:p>
        </p:txBody>
      </p:sp>
      <p:sp>
        <p:nvSpPr>
          <p:cNvPr name="Freeform 3" id="3"/>
          <p:cNvSpPr/>
          <p:nvPr/>
        </p:nvSpPr>
        <p:spPr>
          <a:xfrm flipH="false" flipV="false" rot="-7583687">
            <a:off x="-1947365" y="-10386902"/>
            <a:ext cx="17608566" cy="22831204"/>
          </a:xfrm>
          <a:custGeom>
            <a:avLst/>
            <a:gdLst/>
            <a:ahLst/>
            <a:cxnLst/>
            <a:rect r="r" b="b" t="t" l="l"/>
            <a:pathLst>
              <a:path h="22831204" w="17608566">
                <a:moveTo>
                  <a:pt x="0" y="0"/>
                </a:moveTo>
                <a:lnTo>
                  <a:pt x="17608566" y="0"/>
                </a:lnTo>
                <a:lnTo>
                  <a:pt x="17608566" y="22831204"/>
                </a:lnTo>
                <a:lnTo>
                  <a:pt x="0" y="228312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3782955" y="-3894126"/>
            <a:ext cx="4993590" cy="7152277"/>
          </a:xfrm>
          <a:custGeom>
            <a:avLst/>
            <a:gdLst/>
            <a:ahLst/>
            <a:cxnLst/>
            <a:rect r="r" b="b" t="t" l="l"/>
            <a:pathLst>
              <a:path h="7152277" w="4993590">
                <a:moveTo>
                  <a:pt x="4993589" y="7152277"/>
                </a:moveTo>
                <a:lnTo>
                  <a:pt x="0" y="7152277"/>
                </a:lnTo>
                <a:lnTo>
                  <a:pt x="0" y="0"/>
                </a:lnTo>
                <a:lnTo>
                  <a:pt x="4993589" y="0"/>
                </a:lnTo>
                <a:lnTo>
                  <a:pt x="4993589" y="7152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2551731" y="-5846524"/>
            <a:ext cx="14038382" cy="8984564"/>
          </a:xfrm>
          <a:custGeom>
            <a:avLst/>
            <a:gdLst/>
            <a:ahLst/>
            <a:cxnLst/>
            <a:rect r="r" b="b" t="t" l="l"/>
            <a:pathLst>
              <a:path h="8984564" w="14038382">
                <a:moveTo>
                  <a:pt x="0" y="0"/>
                </a:moveTo>
                <a:lnTo>
                  <a:pt x="14038382" y="0"/>
                </a:lnTo>
                <a:lnTo>
                  <a:pt x="14038382" y="8984564"/>
                </a:lnTo>
                <a:lnTo>
                  <a:pt x="0" y="8984564"/>
                </a:lnTo>
                <a:lnTo>
                  <a:pt x="0" y="0"/>
                </a:lnTo>
                <a:close/>
              </a:path>
            </a:pathLst>
          </a:custGeom>
          <a:blipFill>
            <a:blip r:embed="rId6"/>
            <a:stretch>
              <a:fillRect l="0" t="0" r="0" b="0"/>
            </a:stretch>
          </a:blipFill>
        </p:spPr>
      </p:sp>
      <p:sp>
        <p:nvSpPr>
          <p:cNvPr name="Freeform 6" id="6"/>
          <p:cNvSpPr/>
          <p:nvPr/>
        </p:nvSpPr>
        <p:spPr>
          <a:xfrm flipH="false" flipV="false" rot="3216312">
            <a:off x="4493534" y="-1128602"/>
            <a:ext cx="17608566" cy="22831204"/>
          </a:xfrm>
          <a:custGeom>
            <a:avLst/>
            <a:gdLst/>
            <a:ahLst/>
            <a:cxnLst/>
            <a:rect r="r" b="b" t="t" l="l"/>
            <a:pathLst>
              <a:path h="22831204" w="17608566">
                <a:moveTo>
                  <a:pt x="0" y="0"/>
                </a:moveTo>
                <a:lnTo>
                  <a:pt x="17608566" y="0"/>
                </a:lnTo>
                <a:lnTo>
                  <a:pt x="17608566" y="22831204"/>
                </a:lnTo>
                <a:lnTo>
                  <a:pt x="0" y="228312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true" rot="-10800000">
            <a:off x="-488544" y="7028849"/>
            <a:ext cx="4993590" cy="7152277"/>
          </a:xfrm>
          <a:custGeom>
            <a:avLst/>
            <a:gdLst/>
            <a:ahLst/>
            <a:cxnLst/>
            <a:rect r="r" b="b" t="t" l="l"/>
            <a:pathLst>
              <a:path h="7152277" w="4993590">
                <a:moveTo>
                  <a:pt x="4993589" y="7152277"/>
                </a:moveTo>
                <a:lnTo>
                  <a:pt x="0" y="7152277"/>
                </a:lnTo>
                <a:lnTo>
                  <a:pt x="0" y="0"/>
                </a:lnTo>
                <a:lnTo>
                  <a:pt x="4993589" y="0"/>
                </a:lnTo>
                <a:lnTo>
                  <a:pt x="4993589" y="7152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8100000">
            <a:off x="-8302113" y="7148960"/>
            <a:ext cx="14038382" cy="8984564"/>
          </a:xfrm>
          <a:custGeom>
            <a:avLst/>
            <a:gdLst/>
            <a:ahLst/>
            <a:cxnLst/>
            <a:rect r="r" b="b" t="t" l="l"/>
            <a:pathLst>
              <a:path h="8984564" w="14038382">
                <a:moveTo>
                  <a:pt x="0" y="0"/>
                </a:moveTo>
                <a:lnTo>
                  <a:pt x="14038382" y="0"/>
                </a:lnTo>
                <a:lnTo>
                  <a:pt x="14038382" y="8984564"/>
                </a:lnTo>
                <a:lnTo>
                  <a:pt x="0" y="8984564"/>
                </a:lnTo>
                <a:lnTo>
                  <a:pt x="0" y="0"/>
                </a:lnTo>
                <a:close/>
              </a:path>
            </a:pathLst>
          </a:custGeom>
          <a:blipFill>
            <a:blip r:embed="rId6"/>
            <a:stretch>
              <a:fillRect l="0" t="0" r="0" b="0"/>
            </a:stretch>
          </a:blipFill>
        </p:spPr>
      </p:sp>
      <p:sp>
        <p:nvSpPr>
          <p:cNvPr name="Freeform 9" id="9"/>
          <p:cNvSpPr/>
          <p:nvPr/>
        </p:nvSpPr>
        <p:spPr>
          <a:xfrm flipH="false" flipV="false" rot="0">
            <a:off x="1028700" y="1028700"/>
            <a:ext cx="15592685" cy="8909919"/>
          </a:xfrm>
          <a:custGeom>
            <a:avLst/>
            <a:gdLst/>
            <a:ahLst/>
            <a:cxnLst/>
            <a:rect r="r" b="b" t="t" l="l"/>
            <a:pathLst>
              <a:path h="8909919" w="15592685">
                <a:moveTo>
                  <a:pt x="0" y="0"/>
                </a:moveTo>
                <a:lnTo>
                  <a:pt x="15592685" y="0"/>
                </a:lnTo>
                <a:lnTo>
                  <a:pt x="15592685" y="8909919"/>
                </a:lnTo>
                <a:lnTo>
                  <a:pt x="0" y="8909919"/>
                </a:lnTo>
                <a:lnTo>
                  <a:pt x="0" y="0"/>
                </a:lnTo>
                <a:close/>
              </a:path>
            </a:pathLst>
          </a:custGeom>
          <a:blipFill>
            <a:blip r:embed="rId7"/>
            <a:stretch>
              <a:fillRect l="0" t="-3424" r="0" b="-12515"/>
            </a:stretch>
          </a:blipFill>
        </p:spPr>
      </p:sp>
      <p:sp>
        <p:nvSpPr>
          <p:cNvPr name="TextBox 10" id="10"/>
          <p:cNvSpPr txBox="true"/>
          <p:nvPr/>
        </p:nvSpPr>
        <p:spPr>
          <a:xfrm rot="0">
            <a:off x="2500383" y="208771"/>
            <a:ext cx="13406557" cy="819929"/>
          </a:xfrm>
          <a:prstGeom prst="rect">
            <a:avLst/>
          </a:prstGeom>
        </p:spPr>
        <p:txBody>
          <a:bodyPr anchor="t" rtlCol="false" tIns="0" lIns="0" bIns="0" rIns="0">
            <a:spAutoFit/>
          </a:bodyPr>
          <a:lstStyle/>
          <a:p>
            <a:pPr algn="ctr">
              <a:lnSpc>
                <a:spcPts val="6782"/>
              </a:lnSpc>
              <a:spcBef>
                <a:spcPct val="0"/>
              </a:spcBef>
            </a:pPr>
            <a:r>
              <a:rPr lang="en-US" sz="4844">
                <a:gradFill>
                  <a:gsLst>
                    <a:gs pos="0">
                      <a:srgbClr val="8AFAFC">
                        <a:alpha val="100000"/>
                      </a:srgbClr>
                    </a:gs>
                    <a:gs pos="50000">
                      <a:srgbClr val="56BAFF">
                        <a:alpha val="100000"/>
                      </a:srgbClr>
                    </a:gs>
                    <a:gs pos="100000">
                      <a:srgbClr val="A57EFF">
                        <a:alpha val="100000"/>
                      </a:srgbClr>
                    </a:gs>
                  </a:gsLst>
                  <a:path path="circle">
                    <a:fillToRect l="0" r="100000" t="0" b="100000"/>
                  </a:path>
                  <a:tileRect r="0" l="-100000" b="0" t="-100000"/>
                </a:gradFill>
                <a:latin typeface="Canva Sans"/>
                <a:ea typeface="Canva Sans"/>
                <a:cs typeface="Canva Sans"/>
                <a:sym typeface="Canva Sans"/>
              </a:rPr>
              <a:t>ARCHITECHTURE OF PRINTER MANAGEMENT</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4668812" y="7296663"/>
            <a:ext cx="7621689" cy="4526525"/>
          </a:xfrm>
          <a:custGeom>
            <a:avLst/>
            <a:gdLst/>
            <a:ahLst/>
            <a:cxnLst/>
            <a:rect r="r" b="b" t="t" l="l"/>
            <a:pathLst>
              <a:path h="4526525" w="7621689">
                <a:moveTo>
                  <a:pt x="0" y="0"/>
                </a:moveTo>
                <a:lnTo>
                  <a:pt x="7621689" y="0"/>
                </a:lnTo>
                <a:lnTo>
                  <a:pt x="7621689" y="4526524"/>
                </a:lnTo>
                <a:lnTo>
                  <a:pt x="0" y="45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3595093" y="-1967946"/>
            <a:ext cx="7621689" cy="4526525"/>
          </a:xfrm>
          <a:custGeom>
            <a:avLst/>
            <a:gdLst/>
            <a:ahLst/>
            <a:cxnLst/>
            <a:rect r="r" b="b" t="t" l="l"/>
            <a:pathLst>
              <a:path h="4526525" w="7621689">
                <a:moveTo>
                  <a:pt x="7621689" y="4526524"/>
                </a:moveTo>
                <a:lnTo>
                  <a:pt x="0" y="4526524"/>
                </a:lnTo>
                <a:lnTo>
                  <a:pt x="0" y="0"/>
                </a:lnTo>
                <a:lnTo>
                  <a:pt x="7621689" y="0"/>
                </a:lnTo>
                <a:lnTo>
                  <a:pt x="7621689" y="45265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4191081" y="-3558068"/>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3672590" y="-4736736"/>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477064" y="7293790"/>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7634066" y="740380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8" id="8"/>
          <p:cNvSpPr/>
          <p:nvPr/>
        </p:nvSpPr>
        <p:spPr>
          <a:xfrm flipH="false" flipV="false" rot="0">
            <a:off x="10537695" y="4840337"/>
            <a:ext cx="7306772" cy="3265458"/>
          </a:xfrm>
          <a:custGeom>
            <a:avLst/>
            <a:gdLst/>
            <a:ahLst/>
            <a:cxnLst/>
            <a:rect r="r" b="b" t="t" l="l"/>
            <a:pathLst>
              <a:path h="3265458" w="7306772">
                <a:moveTo>
                  <a:pt x="0" y="0"/>
                </a:moveTo>
                <a:lnTo>
                  <a:pt x="7306772" y="0"/>
                </a:lnTo>
                <a:lnTo>
                  <a:pt x="7306772" y="3265458"/>
                </a:lnTo>
                <a:lnTo>
                  <a:pt x="0" y="3265458"/>
                </a:lnTo>
                <a:lnTo>
                  <a:pt x="0" y="0"/>
                </a:lnTo>
                <a:close/>
              </a:path>
            </a:pathLst>
          </a:custGeom>
          <a:blipFill>
            <a:blip r:embed="rId7"/>
            <a:stretch>
              <a:fillRect l="-1966" t="0" r="-1966" b="0"/>
            </a:stretch>
          </a:blipFill>
        </p:spPr>
      </p:sp>
      <p:sp>
        <p:nvSpPr>
          <p:cNvPr name="TextBox 9" id="9"/>
          <p:cNvSpPr txBox="true"/>
          <p:nvPr/>
        </p:nvSpPr>
        <p:spPr>
          <a:xfrm rot="0">
            <a:off x="2695096" y="1373066"/>
            <a:ext cx="13411977" cy="2385695"/>
          </a:xfrm>
          <a:prstGeom prst="rect">
            <a:avLst/>
          </a:prstGeom>
        </p:spPr>
        <p:txBody>
          <a:bodyPr anchor="t" rtlCol="false" tIns="0" lIns="0" bIns="0" rIns="0">
            <a:spAutoFit/>
          </a:bodyPr>
          <a:lstStyle/>
          <a:p>
            <a:pPr algn="ctr">
              <a:lnSpc>
                <a:spcPts val="9040"/>
              </a:lnSpc>
            </a:pPr>
            <a:r>
              <a:rPr lang="en-US" sz="8000">
                <a:gradFill>
                  <a:gsLst>
                    <a:gs pos="0">
                      <a:srgbClr val="8AFAFC">
                        <a:alpha val="100000"/>
                      </a:srgbClr>
                    </a:gs>
                    <a:gs pos="50000">
                      <a:srgbClr val="56BAFF">
                        <a:alpha val="100000"/>
                      </a:srgbClr>
                    </a:gs>
                    <a:gs pos="100000">
                      <a:srgbClr val="A57EFF">
                        <a:alpha val="100000"/>
                      </a:srgbClr>
                    </a:gs>
                  </a:gsLst>
                  <a:path path="circle">
                    <a:fillToRect l="0" r="100000" t="0" b="100000"/>
                  </a:path>
                  <a:tileRect r="0" l="-100000" b="0" t="-100000"/>
                </a:gradFill>
                <a:latin typeface="Poppins"/>
                <a:ea typeface="Poppins"/>
                <a:cs typeface="Poppins"/>
                <a:sym typeface="Poppins"/>
              </a:rPr>
              <a:t>WHAT IS </a:t>
            </a:r>
          </a:p>
          <a:p>
            <a:pPr algn="ctr">
              <a:lnSpc>
                <a:spcPts val="9040"/>
              </a:lnSpc>
            </a:pPr>
            <a:r>
              <a:rPr lang="en-US" sz="8000">
                <a:gradFill>
                  <a:gsLst>
                    <a:gs pos="0">
                      <a:srgbClr val="8AFAFC">
                        <a:alpha val="100000"/>
                      </a:srgbClr>
                    </a:gs>
                    <a:gs pos="50000">
                      <a:srgbClr val="56BAFF">
                        <a:alpha val="100000"/>
                      </a:srgbClr>
                    </a:gs>
                    <a:gs pos="100000">
                      <a:srgbClr val="A57EFF">
                        <a:alpha val="100000"/>
                      </a:srgbClr>
                    </a:gs>
                  </a:gsLst>
                  <a:path path="circle">
                    <a:fillToRect l="0" r="100000" t="0" b="100000"/>
                  </a:path>
                  <a:tileRect r="0" l="-100000" b="0" t="-100000"/>
                </a:gradFill>
                <a:latin typeface="Poppins"/>
                <a:ea typeface="Poppins"/>
                <a:cs typeface="Poppins"/>
                <a:sym typeface="Poppins"/>
              </a:rPr>
              <a:t>PRINTER SPOOLER?</a:t>
            </a:r>
          </a:p>
        </p:txBody>
      </p:sp>
      <p:sp>
        <p:nvSpPr>
          <p:cNvPr name="TextBox 10" id="10"/>
          <p:cNvSpPr txBox="true"/>
          <p:nvPr/>
        </p:nvSpPr>
        <p:spPr>
          <a:xfrm rot="0">
            <a:off x="215751" y="4844862"/>
            <a:ext cx="9679208" cy="3260932"/>
          </a:xfrm>
          <a:prstGeom prst="rect">
            <a:avLst/>
          </a:prstGeom>
        </p:spPr>
        <p:txBody>
          <a:bodyPr anchor="t" rtlCol="false" tIns="0" lIns="0" bIns="0" rIns="0">
            <a:spAutoFit/>
          </a:bodyPr>
          <a:lstStyle/>
          <a:p>
            <a:pPr algn="just" marL="567825" indent="-283912" lvl="1">
              <a:lnSpc>
                <a:spcPts val="3682"/>
              </a:lnSpc>
              <a:buFont typeface="Arial"/>
              <a:buChar char="•"/>
            </a:pPr>
            <a:r>
              <a:rPr lang="en-US" sz="2630">
                <a:solidFill>
                  <a:srgbClr val="F5FFFF"/>
                </a:solidFill>
                <a:latin typeface="Poppins"/>
                <a:ea typeface="Poppins"/>
                <a:cs typeface="Poppins"/>
                <a:sym typeface="Poppins"/>
              </a:rPr>
              <a:t>A Print Spooler is a background service in an</a:t>
            </a:r>
            <a:r>
              <a:rPr lang="en-US" sz="2630">
                <a:solidFill>
                  <a:srgbClr val="F5FFFF"/>
                </a:solidFill>
                <a:latin typeface="Poppins"/>
                <a:ea typeface="Poppins"/>
                <a:cs typeface="Poppins"/>
                <a:sym typeface="Poppins"/>
              </a:rPr>
              <a:t> operating system that manages all print jobs sent to a printer.</a:t>
            </a:r>
          </a:p>
          <a:p>
            <a:pPr algn="just">
              <a:lnSpc>
                <a:spcPts val="3682"/>
              </a:lnSpc>
            </a:pPr>
          </a:p>
          <a:p>
            <a:pPr algn="just" marL="567825" indent="-283912" lvl="1">
              <a:lnSpc>
                <a:spcPts val="3682"/>
              </a:lnSpc>
              <a:buFont typeface="Arial"/>
              <a:buChar char="•"/>
            </a:pPr>
            <a:r>
              <a:rPr lang="en-US" sz="2630">
                <a:solidFill>
                  <a:srgbClr val="F5FFFF"/>
                </a:solidFill>
                <a:latin typeface="Poppins"/>
                <a:ea typeface="Poppins"/>
                <a:cs typeface="Poppins"/>
                <a:sym typeface="Poppins"/>
              </a:rPr>
              <a:t>It temporarily stores print jobs in a queue and sends them to the printer one by one.</a:t>
            </a:r>
          </a:p>
          <a:p>
            <a:pPr algn="just">
              <a:lnSpc>
                <a:spcPts val="3682"/>
              </a:lnSpc>
            </a:pP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8</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4685788" y="8306167"/>
            <a:ext cx="7621689" cy="4526525"/>
          </a:xfrm>
          <a:custGeom>
            <a:avLst/>
            <a:gdLst/>
            <a:ahLst/>
            <a:cxnLst/>
            <a:rect r="r" b="b" t="t" l="l"/>
            <a:pathLst>
              <a:path h="4526525" w="7621689">
                <a:moveTo>
                  <a:pt x="0" y="0"/>
                </a:moveTo>
                <a:lnTo>
                  <a:pt x="7621688" y="0"/>
                </a:lnTo>
                <a:lnTo>
                  <a:pt x="7621688" y="4526524"/>
                </a:lnTo>
                <a:lnTo>
                  <a:pt x="0" y="45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4131097" y="-2089907"/>
            <a:ext cx="7621689" cy="4526525"/>
          </a:xfrm>
          <a:custGeom>
            <a:avLst/>
            <a:gdLst/>
            <a:ahLst/>
            <a:cxnLst/>
            <a:rect r="r" b="b" t="t" l="l"/>
            <a:pathLst>
              <a:path h="4526525" w="7621689">
                <a:moveTo>
                  <a:pt x="7621689" y="4526525"/>
                </a:moveTo>
                <a:lnTo>
                  <a:pt x="0" y="4526525"/>
                </a:lnTo>
                <a:lnTo>
                  <a:pt x="0" y="0"/>
                </a:lnTo>
                <a:lnTo>
                  <a:pt x="7621689" y="0"/>
                </a:lnTo>
                <a:lnTo>
                  <a:pt x="7621689" y="452652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4734291" y="-3761772"/>
            <a:ext cx="4573983" cy="6551278"/>
          </a:xfrm>
          <a:custGeom>
            <a:avLst/>
            <a:gdLst/>
            <a:ahLst/>
            <a:cxnLst/>
            <a:rect r="r" b="b" t="t" l="l"/>
            <a:pathLst>
              <a:path h="6551278" w="4573983">
                <a:moveTo>
                  <a:pt x="4573984" y="6551278"/>
                </a:moveTo>
                <a:lnTo>
                  <a:pt x="0" y="6551278"/>
                </a:lnTo>
                <a:lnTo>
                  <a:pt x="0" y="0"/>
                </a:lnTo>
                <a:lnTo>
                  <a:pt x="4573984" y="0"/>
                </a:lnTo>
                <a:lnTo>
                  <a:pt x="4573984"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3895107" y="-5159680"/>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969349" y="7429593"/>
            <a:ext cx="4573983" cy="6551278"/>
          </a:xfrm>
          <a:custGeom>
            <a:avLst/>
            <a:gdLst/>
            <a:ahLst/>
            <a:cxnLst/>
            <a:rect r="r" b="b" t="t" l="l"/>
            <a:pathLst>
              <a:path h="6551278" w="4573983">
                <a:moveTo>
                  <a:pt x="4573984" y="6551278"/>
                </a:moveTo>
                <a:lnTo>
                  <a:pt x="0" y="6551278"/>
                </a:lnTo>
                <a:lnTo>
                  <a:pt x="0" y="0"/>
                </a:lnTo>
                <a:lnTo>
                  <a:pt x="4573984" y="0"/>
                </a:lnTo>
                <a:lnTo>
                  <a:pt x="4573984"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8024499" y="7567890"/>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TextBox 8" id="8"/>
          <p:cNvSpPr txBox="true"/>
          <p:nvPr/>
        </p:nvSpPr>
        <p:spPr>
          <a:xfrm rot="0">
            <a:off x="2336160" y="415553"/>
            <a:ext cx="13411977" cy="768350"/>
          </a:xfrm>
          <a:prstGeom prst="rect">
            <a:avLst/>
          </a:prstGeom>
        </p:spPr>
        <p:txBody>
          <a:bodyPr anchor="t" rtlCol="false" tIns="0" lIns="0" bIns="0" rIns="0">
            <a:spAutoFit/>
          </a:bodyPr>
          <a:lstStyle/>
          <a:p>
            <a:pPr algn="ctr">
              <a:lnSpc>
                <a:spcPts val="5650"/>
              </a:lnSpc>
            </a:pPr>
            <a:r>
              <a:rPr lang="en-US" sz="5000">
                <a:gradFill>
                  <a:gsLst>
                    <a:gs pos="0">
                      <a:srgbClr val="8AFAFC">
                        <a:alpha val="100000"/>
                      </a:srgbClr>
                    </a:gs>
                    <a:gs pos="50000">
                      <a:srgbClr val="56BAFF">
                        <a:alpha val="100000"/>
                      </a:srgbClr>
                    </a:gs>
                    <a:gs pos="100000">
                      <a:srgbClr val="A57EFF">
                        <a:alpha val="100000"/>
                      </a:srgbClr>
                    </a:gs>
                  </a:gsLst>
                  <a:path path="circle">
                    <a:fillToRect l="0" r="100000" t="0" b="100000"/>
                  </a:path>
                  <a:tileRect r="0" l="-100000" b="0" t="-100000"/>
                </a:gradFill>
                <a:latin typeface="Poppins"/>
                <a:ea typeface="Poppins"/>
                <a:cs typeface="Poppins"/>
                <a:sym typeface="Poppins"/>
              </a:rPr>
              <a:t>SPOOLER ADVANTAGES</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9</a:t>
            </a:r>
          </a:p>
        </p:txBody>
      </p:sp>
      <p:sp>
        <p:nvSpPr>
          <p:cNvPr name="TextBox 10" id="10"/>
          <p:cNvSpPr txBox="true"/>
          <p:nvPr/>
        </p:nvSpPr>
        <p:spPr>
          <a:xfrm rot="0">
            <a:off x="1105421" y="1682835"/>
            <a:ext cx="16230600" cy="7726278"/>
          </a:xfrm>
          <a:prstGeom prst="rect">
            <a:avLst/>
          </a:prstGeom>
        </p:spPr>
        <p:txBody>
          <a:bodyPr anchor="t" rtlCol="false" tIns="0" lIns="0" bIns="0" rIns="0">
            <a:spAutoFit/>
          </a:bodyPr>
          <a:lstStyle/>
          <a:p>
            <a:pPr algn="ctr">
              <a:lnSpc>
                <a:spcPts val="4117"/>
              </a:lnSpc>
            </a:pPr>
          </a:p>
          <a:p>
            <a:pPr algn="ctr" marL="634926" indent="-317463" lvl="1">
              <a:lnSpc>
                <a:spcPts val="4117"/>
              </a:lnSpc>
              <a:buFont typeface="Arial"/>
              <a:buChar char="•"/>
            </a:pPr>
            <a:r>
              <a:rPr lang="en-US" sz="2940">
                <a:solidFill>
                  <a:srgbClr val="FFFFFF"/>
                </a:solidFill>
                <a:latin typeface="Poppins"/>
                <a:ea typeface="Poppins"/>
                <a:cs typeface="Poppins"/>
                <a:sym typeface="Poppins"/>
              </a:rPr>
              <a:t>Queue Management: It orders and sequences multiple print jobs, allowing them to be processed in the correct order.</a:t>
            </a:r>
          </a:p>
          <a:p>
            <a:pPr algn="ctr">
              <a:lnSpc>
                <a:spcPts val="4117"/>
              </a:lnSpc>
            </a:pPr>
          </a:p>
          <a:p>
            <a:pPr algn="ctr" marL="634926" indent="-317463" lvl="1">
              <a:lnSpc>
                <a:spcPts val="4117"/>
              </a:lnSpc>
              <a:buFont typeface="Arial"/>
              <a:buChar char="•"/>
            </a:pPr>
            <a:r>
              <a:rPr lang="en-US" sz="2940">
                <a:solidFill>
                  <a:srgbClr val="FFFFFF"/>
                </a:solidFill>
                <a:latin typeface="Poppins"/>
                <a:ea typeface="Poppins"/>
                <a:cs typeface="Poppins"/>
                <a:sym typeface="Poppins"/>
              </a:rPr>
              <a:t>Performance: It improves efficiency by freeing up applications while the printer processes, preventing the computer from waiting for the printer to finish.</a:t>
            </a:r>
          </a:p>
          <a:p>
            <a:pPr algn="ctr">
              <a:lnSpc>
                <a:spcPts val="4117"/>
              </a:lnSpc>
            </a:pPr>
          </a:p>
          <a:p>
            <a:pPr algn="ctr" marL="634926" indent="-317463" lvl="1">
              <a:lnSpc>
                <a:spcPts val="4117"/>
              </a:lnSpc>
              <a:buFont typeface="Arial"/>
              <a:buChar char="•"/>
            </a:pPr>
            <a:r>
              <a:rPr lang="en-US" sz="2940">
                <a:solidFill>
                  <a:srgbClr val="FFFFFF"/>
                </a:solidFill>
                <a:latin typeface="Poppins"/>
                <a:ea typeface="Poppins"/>
                <a:cs typeface="Poppins"/>
                <a:sym typeface="Poppins"/>
              </a:rPr>
              <a:t>Job Control: It allows users to view, delete, or restart print jobs in the queue.</a:t>
            </a:r>
          </a:p>
          <a:p>
            <a:pPr algn="ctr">
              <a:lnSpc>
                <a:spcPts val="4117"/>
              </a:lnSpc>
            </a:pPr>
          </a:p>
          <a:p>
            <a:pPr algn="ctr" marL="634926" indent="-317463" lvl="1">
              <a:lnSpc>
                <a:spcPts val="4117"/>
              </a:lnSpc>
              <a:spcBef>
                <a:spcPct val="0"/>
              </a:spcBef>
              <a:buFont typeface="Arial"/>
              <a:buChar char="•"/>
            </a:pPr>
            <a:r>
              <a:rPr lang="en-US" sz="2940">
                <a:solidFill>
                  <a:srgbClr val="FFFFFF"/>
                </a:solidFill>
                <a:latin typeface="Poppins"/>
                <a:ea typeface="Poppins"/>
                <a:cs typeface="Poppins"/>
                <a:sym typeface="Poppins"/>
              </a:rPr>
              <a:t>Res</a:t>
            </a:r>
            <a:r>
              <a:rPr lang="en-US" sz="2940">
                <a:solidFill>
                  <a:srgbClr val="FFFFFF"/>
                </a:solidFill>
                <a:latin typeface="Poppins"/>
                <a:ea typeface="Poppins"/>
                <a:cs typeface="Poppins"/>
                <a:sym typeface="Poppins"/>
              </a:rPr>
              <a:t>ource Handling: It loads necessary printer drivers and converts data types (e.g., EMF, RAW) to Aensure the printer understands the document.</a:t>
            </a:r>
          </a:p>
          <a:p>
            <a:pPr algn="ctr">
              <a:lnSpc>
                <a:spcPts val="4117"/>
              </a:lnSpc>
              <a:spcBef>
                <a:spcPct val="0"/>
              </a:spcBef>
            </a:pPr>
          </a:p>
          <a:p>
            <a:pPr algn="ctr" marL="634926" indent="-317463" lvl="1">
              <a:lnSpc>
                <a:spcPts val="4117"/>
              </a:lnSpc>
              <a:spcBef>
                <a:spcPct val="0"/>
              </a:spcBef>
              <a:buFont typeface="Arial"/>
              <a:buChar char="•"/>
            </a:pPr>
            <a:r>
              <a:rPr lang="en-US" sz="2940">
                <a:solidFill>
                  <a:srgbClr val="FFFFFF"/>
                </a:solidFill>
                <a:latin typeface="Poppins"/>
                <a:ea typeface="Poppins"/>
                <a:cs typeface="Poppins"/>
                <a:sym typeface="Poppins"/>
              </a:rPr>
              <a:t>Spool Folder: Documents are held in a specific folder on the computer until the printer is ready.</a:t>
            </a:r>
          </a:p>
          <a:p>
            <a:pPr algn="ctr">
              <a:lnSpc>
                <a:spcPts val="4117"/>
              </a:lnSpc>
              <a:spcBef>
                <a:spcPct val="0"/>
              </a:spcBef>
            </a:pP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5392951" y="8131480"/>
            <a:ext cx="7621689" cy="4526525"/>
          </a:xfrm>
          <a:custGeom>
            <a:avLst/>
            <a:gdLst/>
            <a:ahLst/>
            <a:cxnLst/>
            <a:rect r="r" b="b" t="t" l="l"/>
            <a:pathLst>
              <a:path h="4526525" w="7621689">
                <a:moveTo>
                  <a:pt x="0" y="0"/>
                </a:moveTo>
                <a:lnTo>
                  <a:pt x="7621689" y="0"/>
                </a:lnTo>
                <a:lnTo>
                  <a:pt x="7621689" y="4526525"/>
                </a:lnTo>
                <a:lnTo>
                  <a:pt x="0" y="4526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4458572" y="-2263262"/>
            <a:ext cx="7621689" cy="4526525"/>
          </a:xfrm>
          <a:custGeom>
            <a:avLst/>
            <a:gdLst/>
            <a:ahLst/>
            <a:cxnLst/>
            <a:rect r="r" b="b" t="t" l="l"/>
            <a:pathLst>
              <a:path h="4526525" w="7621689">
                <a:moveTo>
                  <a:pt x="7621688" y="4526524"/>
                </a:moveTo>
                <a:lnTo>
                  <a:pt x="0" y="4526524"/>
                </a:lnTo>
                <a:lnTo>
                  <a:pt x="0" y="0"/>
                </a:lnTo>
                <a:lnTo>
                  <a:pt x="7621688" y="0"/>
                </a:lnTo>
                <a:lnTo>
                  <a:pt x="7621688" y="45265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5735439" y="-3574822"/>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4252865" y="-5229392"/>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1616350" y="7896942"/>
            <a:ext cx="4573983" cy="6551278"/>
          </a:xfrm>
          <a:custGeom>
            <a:avLst/>
            <a:gdLst/>
            <a:ahLst/>
            <a:cxnLst/>
            <a:rect r="r" b="b" t="t" l="l"/>
            <a:pathLst>
              <a:path h="6551278" w="4573983">
                <a:moveTo>
                  <a:pt x="4573983" y="6551277"/>
                </a:moveTo>
                <a:lnTo>
                  <a:pt x="0" y="6551277"/>
                </a:lnTo>
                <a:lnTo>
                  <a:pt x="0" y="0"/>
                </a:lnTo>
                <a:lnTo>
                  <a:pt x="4573983" y="0"/>
                </a:lnTo>
                <a:lnTo>
                  <a:pt x="4573983" y="6551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9256264" y="6591055"/>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TextBox 8" id="8"/>
          <p:cNvSpPr txBox="true"/>
          <p:nvPr/>
        </p:nvSpPr>
        <p:spPr>
          <a:xfrm rot="0">
            <a:off x="2438012" y="1169305"/>
            <a:ext cx="13411977" cy="1546225"/>
          </a:xfrm>
          <a:prstGeom prst="rect">
            <a:avLst/>
          </a:prstGeom>
        </p:spPr>
        <p:txBody>
          <a:bodyPr anchor="t" rtlCol="false" tIns="0" lIns="0" bIns="0" rIns="0">
            <a:spAutoFit/>
          </a:bodyPr>
          <a:lstStyle/>
          <a:p>
            <a:pPr algn="ctr">
              <a:lnSpc>
                <a:spcPts val="11299"/>
              </a:lnSpc>
            </a:pPr>
            <a:r>
              <a:rPr lang="en-US" sz="9999">
                <a:solidFill>
                  <a:srgbClr val="5FA8F3"/>
                </a:solidFill>
                <a:latin typeface="Poppins"/>
                <a:ea typeface="Poppins"/>
                <a:cs typeface="Poppins"/>
                <a:sym typeface="Poppins"/>
              </a:rPr>
              <a:t>ADVANTAGES</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10</a:t>
            </a:r>
          </a:p>
        </p:txBody>
      </p:sp>
      <p:sp>
        <p:nvSpPr>
          <p:cNvPr name="TextBox 10" id="10"/>
          <p:cNvSpPr txBox="true"/>
          <p:nvPr/>
        </p:nvSpPr>
        <p:spPr>
          <a:xfrm rot="0">
            <a:off x="1917745" y="2833897"/>
            <a:ext cx="16864968" cy="6726028"/>
          </a:xfrm>
          <a:prstGeom prst="rect">
            <a:avLst/>
          </a:prstGeom>
        </p:spPr>
        <p:txBody>
          <a:bodyPr anchor="t" rtlCol="false" tIns="0" lIns="0" bIns="0" rIns="0">
            <a:spAutoFit/>
          </a:bodyPr>
          <a:lstStyle/>
          <a:p>
            <a:pPr algn="l" marL="555024" indent="-277512" lvl="1">
              <a:lnSpc>
                <a:spcPts val="3599"/>
              </a:lnSpc>
              <a:buFont typeface="Arial"/>
              <a:buChar char="•"/>
            </a:pPr>
            <a:r>
              <a:rPr lang="en-US" sz="2570" spc="77">
                <a:solidFill>
                  <a:srgbClr val="FFFFFF"/>
                </a:solidFill>
                <a:latin typeface="Poppins Light"/>
                <a:ea typeface="Poppins Light"/>
                <a:cs typeface="Poppins Light"/>
                <a:sym typeface="Poppins Light"/>
              </a:rPr>
              <a:t>CENTRALIZED CONTROL – MANAGE AND MONITOR ALL PRINTERS FROM ONE WEB </a:t>
            </a:r>
          </a:p>
          <a:p>
            <a:pPr algn="l">
              <a:lnSpc>
                <a:spcPts val="3599"/>
              </a:lnSpc>
            </a:pPr>
            <a:r>
              <a:rPr lang="en-US" sz="2570" spc="77">
                <a:solidFill>
                  <a:srgbClr val="FFFFFF"/>
                </a:solidFill>
                <a:latin typeface="Poppins Light"/>
                <a:ea typeface="Poppins Light"/>
                <a:cs typeface="Poppins Light"/>
                <a:sym typeface="Poppins Light"/>
              </a:rPr>
              <a:t>       </a:t>
            </a:r>
            <a:r>
              <a:rPr lang="en-US" sz="2570" spc="77">
                <a:solidFill>
                  <a:srgbClr val="FFFFFF"/>
                </a:solidFill>
                <a:latin typeface="Poppins Light"/>
                <a:ea typeface="Poppins Light"/>
                <a:cs typeface="Poppins Light"/>
                <a:sym typeface="Poppins Light"/>
              </a:rPr>
              <a:t>                                         DASHBOARD.</a:t>
            </a:r>
          </a:p>
          <a:p>
            <a:pPr algn="l">
              <a:lnSpc>
                <a:spcPts val="3599"/>
              </a:lnSpc>
            </a:pPr>
          </a:p>
          <a:p>
            <a:pPr algn="l" marL="555024" indent="-277512" lvl="1">
              <a:lnSpc>
                <a:spcPts val="3599"/>
              </a:lnSpc>
              <a:buFont typeface="Arial"/>
              <a:buChar char="•"/>
            </a:pPr>
            <a:r>
              <a:rPr lang="en-US" sz="2570" spc="77">
                <a:solidFill>
                  <a:srgbClr val="FFFFFF"/>
                </a:solidFill>
                <a:latin typeface="Poppins Light"/>
                <a:ea typeface="Poppins Light"/>
                <a:cs typeface="Poppins Light"/>
                <a:sym typeface="Poppins Light"/>
              </a:rPr>
              <a:t>Real-Time Print C</a:t>
            </a:r>
            <a:r>
              <a:rPr lang="en-US" sz="2570" spc="77">
                <a:solidFill>
                  <a:srgbClr val="FFFFFF"/>
                </a:solidFill>
                <a:latin typeface="Poppins Light"/>
                <a:ea typeface="Poppins Light"/>
                <a:cs typeface="Poppins Light"/>
                <a:sym typeface="Poppins Light"/>
              </a:rPr>
              <a:t>OUNT TRACKING – AUTOMATICALLY UPDATES TOTAL PAGES</a:t>
            </a:r>
          </a:p>
          <a:p>
            <a:pPr algn="l">
              <a:lnSpc>
                <a:spcPts val="3599"/>
              </a:lnSpc>
            </a:pPr>
            <a:r>
              <a:rPr lang="en-US" sz="2570" spc="77">
                <a:solidFill>
                  <a:srgbClr val="FFFFFF"/>
                </a:solidFill>
                <a:latin typeface="Poppins Light"/>
                <a:ea typeface="Poppins Light"/>
                <a:cs typeface="Poppins Light"/>
                <a:sym typeface="Poppins Light"/>
              </a:rPr>
              <a:t>                                                  </a:t>
            </a:r>
            <a:r>
              <a:rPr lang="en-US" sz="2570" spc="77">
                <a:solidFill>
                  <a:srgbClr val="FFFFFF"/>
                </a:solidFill>
                <a:latin typeface="Poppins Light"/>
                <a:ea typeface="Poppins Light"/>
                <a:cs typeface="Poppins Light"/>
                <a:sym typeface="Poppins Light"/>
              </a:rPr>
              <a:t>                 PRINTED AND USER-WISE USAGE.</a:t>
            </a:r>
          </a:p>
          <a:p>
            <a:pPr algn="l">
              <a:lnSpc>
                <a:spcPts val="3599"/>
              </a:lnSpc>
            </a:pPr>
          </a:p>
          <a:p>
            <a:pPr algn="l" marL="555024" indent="-277512" lvl="1">
              <a:lnSpc>
                <a:spcPts val="3599"/>
              </a:lnSpc>
              <a:buFont typeface="Arial"/>
              <a:buChar char="•"/>
            </a:pPr>
            <a:r>
              <a:rPr lang="en-US" sz="2570" spc="77">
                <a:solidFill>
                  <a:srgbClr val="FFFFFF"/>
                </a:solidFill>
                <a:latin typeface="Poppins Light"/>
                <a:ea typeface="Poppins Light"/>
                <a:cs typeface="Poppins Light"/>
                <a:sym typeface="Poppins Light"/>
              </a:rPr>
              <a:t>COST &amp; RESOURCE CONTROL – HELPS REDUCE PAPER AND TONER WASTE THROUGH</a:t>
            </a:r>
          </a:p>
          <a:p>
            <a:pPr algn="l">
              <a:lnSpc>
                <a:spcPts val="3599"/>
              </a:lnSpc>
            </a:pPr>
            <a:r>
              <a:rPr lang="en-US" sz="2570" spc="77">
                <a:solidFill>
                  <a:srgbClr val="FFFFFF"/>
                </a:solidFill>
                <a:latin typeface="Poppins Light"/>
                <a:ea typeface="Poppins Light"/>
                <a:cs typeface="Poppins Light"/>
                <a:sym typeface="Poppins Light"/>
              </a:rPr>
              <a:t>                                                       </a:t>
            </a:r>
            <a:r>
              <a:rPr lang="en-US" sz="2570" spc="77">
                <a:solidFill>
                  <a:srgbClr val="FFFFFF"/>
                </a:solidFill>
                <a:latin typeface="Poppins Light"/>
                <a:ea typeface="Poppins Light"/>
                <a:cs typeface="Poppins Light"/>
                <a:sym typeface="Poppins Light"/>
              </a:rPr>
              <a:t>  USAGE MONITORING.</a:t>
            </a:r>
          </a:p>
          <a:p>
            <a:pPr algn="l">
              <a:lnSpc>
                <a:spcPts val="3599"/>
              </a:lnSpc>
            </a:pPr>
          </a:p>
          <a:p>
            <a:pPr algn="l" marL="555024" indent="-277512" lvl="1">
              <a:lnSpc>
                <a:spcPts val="3599"/>
              </a:lnSpc>
              <a:buFont typeface="Arial"/>
              <a:buChar char="•"/>
            </a:pPr>
            <a:r>
              <a:rPr lang="en-US" sz="2570" spc="77">
                <a:solidFill>
                  <a:srgbClr val="FFFFFF"/>
                </a:solidFill>
                <a:latin typeface="Poppins Light"/>
                <a:ea typeface="Poppins Light"/>
                <a:cs typeface="Poppins Light"/>
                <a:sym typeface="Poppins Light"/>
              </a:rPr>
              <a:t>USER ACCOUNTABILITY – LOGS EACH PRINT JOB WITH USERNAME AND TIME FOR</a:t>
            </a:r>
          </a:p>
          <a:p>
            <a:pPr algn="l">
              <a:lnSpc>
                <a:spcPts val="3599"/>
              </a:lnSpc>
            </a:pPr>
            <a:r>
              <a:rPr lang="en-US" sz="2570" spc="77">
                <a:solidFill>
                  <a:srgbClr val="FFFFFF"/>
                </a:solidFill>
                <a:latin typeface="Poppins Light"/>
                <a:ea typeface="Poppins Light"/>
                <a:cs typeface="Poppins Light"/>
                <a:sym typeface="Poppins Light"/>
              </a:rPr>
              <a:t>                                             </a:t>
            </a:r>
            <a:r>
              <a:rPr lang="en-US" sz="2570" spc="77">
                <a:solidFill>
                  <a:srgbClr val="FFFFFF"/>
                </a:solidFill>
                <a:latin typeface="Poppins Light"/>
                <a:ea typeface="Poppins Light"/>
                <a:cs typeface="Poppins Light"/>
                <a:sym typeface="Poppins Light"/>
              </a:rPr>
              <a:t>  TRANSPARENCY.</a:t>
            </a:r>
          </a:p>
          <a:p>
            <a:pPr algn="l">
              <a:lnSpc>
                <a:spcPts val="3599"/>
              </a:lnSpc>
            </a:pPr>
          </a:p>
          <a:p>
            <a:pPr algn="l" marL="555024" indent="-277512" lvl="1">
              <a:lnSpc>
                <a:spcPts val="3599"/>
              </a:lnSpc>
              <a:buFont typeface="Arial"/>
              <a:buChar char="•"/>
            </a:pPr>
            <a:r>
              <a:rPr lang="en-US" sz="2570" spc="77">
                <a:solidFill>
                  <a:srgbClr val="FFFFFF"/>
                </a:solidFill>
                <a:latin typeface="Poppins Light"/>
                <a:ea typeface="Poppins Light"/>
                <a:cs typeface="Poppins Light"/>
                <a:sym typeface="Poppins Light"/>
              </a:rPr>
              <a:t>REMOTE ACCESS – ADMIN CAN MONITOR PRINTERS ANYTIME FROM ANY DEVICE</a:t>
            </a:r>
          </a:p>
          <a:p>
            <a:pPr algn="l">
              <a:lnSpc>
                <a:spcPts val="3599"/>
              </a:lnSpc>
            </a:pPr>
            <a:r>
              <a:rPr lang="en-US" sz="2570" spc="77">
                <a:solidFill>
                  <a:srgbClr val="FFFFFF"/>
                </a:solidFill>
                <a:latin typeface="Poppins Light"/>
                <a:ea typeface="Poppins Light"/>
                <a:cs typeface="Poppins Light"/>
                <a:sym typeface="Poppins Light"/>
              </a:rPr>
              <a:t>                                   </a:t>
            </a:r>
            <a:r>
              <a:rPr lang="en-US" sz="2570" spc="77">
                <a:solidFill>
                  <a:srgbClr val="FFFFFF"/>
                </a:solidFill>
                <a:latin typeface="Poppins Light"/>
                <a:ea typeface="Poppins Light"/>
                <a:cs typeface="Poppins Light"/>
                <a:sym typeface="Poppins Light"/>
              </a:rPr>
              <a:t>  USING A BROWSER.</a:t>
            </a:r>
          </a:p>
          <a:p>
            <a:pPr algn="l">
              <a:lnSpc>
                <a:spcPts val="3599"/>
              </a:lnSpc>
            </a:pP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5187833" y="8023738"/>
            <a:ext cx="7621689" cy="4526525"/>
          </a:xfrm>
          <a:custGeom>
            <a:avLst/>
            <a:gdLst/>
            <a:ahLst/>
            <a:cxnLst/>
            <a:rect r="r" b="b" t="t" l="l"/>
            <a:pathLst>
              <a:path h="4526525" w="7621689">
                <a:moveTo>
                  <a:pt x="0" y="0"/>
                </a:moveTo>
                <a:lnTo>
                  <a:pt x="7621689" y="0"/>
                </a:lnTo>
                <a:lnTo>
                  <a:pt x="7621689" y="4526524"/>
                </a:lnTo>
                <a:lnTo>
                  <a:pt x="0" y="4526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4397394" y="-2983239"/>
            <a:ext cx="7621689" cy="4526525"/>
          </a:xfrm>
          <a:custGeom>
            <a:avLst/>
            <a:gdLst/>
            <a:ahLst/>
            <a:cxnLst/>
            <a:rect r="r" b="b" t="t" l="l"/>
            <a:pathLst>
              <a:path h="4526525" w="7621689">
                <a:moveTo>
                  <a:pt x="7621688" y="4526525"/>
                </a:moveTo>
                <a:lnTo>
                  <a:pt x="0" y="4526525"/>
                </a:lnTo>
                <a:lnTo>
                  <a:pt x="0" y="0"/>
                </a:lnTo>
                <a:lnTo>
                  <a:pt x="7621688" y="0"/>
                </a:lnTo>
                <a:lnTo>
                  <a:pt x="7621688" y="452652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5154047" y="-2982183"/>
            <a:ext cx="4573983" cy="6551278"/>
          </a:xfrm>
          <a:custGeom>
            <a:avLst/>
            <a:gdLst/>
            <a:ahLst/>
            <a:cxnLst/>
            <a:rect r="r" b="b" t="t" l="l"/>
            <a:pathLst>
              <a:path h="6551278" w="4573983">
                <a:moveTo>
                  <a:pt x="4573983" y="6551277"/>
                </a:moveTo>
                <a:lnTo>
                  <a:pt x="0" y="6551277"/>
                </a:lnTo>
                <a:lnTo>
                  <a:pt x="0" y="0"/>
                </a:lnTo>
                <a:lnTo>
                  <a:pt x="4573983" y="0"/>
                </a:lnTo>
                <a:lnTo>
                  <a:pt x="4573983" y="6551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4197257" y="-424979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2268099" y="7211830"/>
            <a:ext cx="4294056" cy="6150340"/>
          </a:xfrm>
          <a:custGeom>
            <a:avLst/>
            <a:gdLst/>
            <a:ahLst/>
            <a:cxnLst/>
            <a:rect r="r" b="b" t="t" l="l"/>
            <a:pathLst>
              <a:path h="6150340" w="4294056">
                <a:moveTo>
                  <a:pt x="4294056" y="6150340"/>
                </a:moveTo>
                <a:lnTo>
                  <a:pt x="0" y="6150340"/>
                </a:lnTo>
                <a:lnTo>
                  <a:pt x="0" y="0"/>
                </a:lnTo>
                <a:lnTo>
                  <a:pt x="4294056" y="0"/>
                </a:lnTo>
                <a:lnTo>
                  <a:pt x="4294056" y="61503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11</a:t>
            </a:r>
          </a:p>
        </p:txBody>
      </p:sp>
      <p:sp>
        <p:nvSpPr>
          <p:cNvPr name="TextBox 8" id="8"/>
          <p:cNvSpPr txBox="true"/>
          <p:nvPr/>
        </p:nvSpPr>
        <p:spPr>
          <a:xfrm rot="0">
            <a:off x="1862300" y="1445477"/>
            <a:ext cx="13291748" cy="839966"/>
          </a:xfrm>
          <a:prstGeom prst="rect">
            <a:avLst/>
          </a:prstGeom>
        </p:spPr>
        <p:txBody>
          <a:bodyPr anchor="t" rtlCol="false" tIns="0" lIns="0" bIns="0" rIns="0">
            <a:spAutoFit/>
          </a:bodyPr>
          <a:lstStyle/>
          <a:p>
            <a:pPr algn="ctr">
              <a:lnSpc>
                <a:spcPts val="6922"/>
              </a:lnSpc>
              <a:spcBef>
                <a:spcPct val="0"/>
              </a:spcBef>
            </a:pPr>
            <a:r>
              <a:rPr lang="en-US" sz="4944">
                <a:solidFill>
                  <a:srgbClr val="569AFF"/>
                </a:solidFill>
                <a:latin typeface="DM Sans"/>
                <a:ea typeface="DM Sans"/>
                <a:cs typeface="DM Sans"/>
                <a:sym typeface="DM Sans"/>
              </a:rPr>
              <a:t>USING POWERSHELL IN PRINTER MONITORING</a:t>
            </a:r>
          </a:p>
        </p:txBody>
      </p:sp>
      <p:sp>
        <p:nvSpPr>
          <p:cNvPr name="TextBox 9" id="9"/>
          <p:cNvSpPr txBox="true"/>
          <p:nvPr/>
        </p:nvSpPr>
        <p:spPr>
          <a:xfrm rot="0">
            <a:off x="8737687" y="5145008"/>
            <a:ext cx="7360" cy="261644"/>
          </a:xfrm>
          <a:prstGeom prst="rect">
            <a:avLst/>
          </a:prstGeom>
        </p:spPr>
        <p:txBody>
          <a:bodyPr anchor="t" rtlCol="false" tIns="0" lIns="0" bIns="0" rIns="0">
            <a:spAutoFit/>
          </a:bodyPr>
          <a:lstStyle/>
          <a:p>
            <a:pPr algn="ctr">
              <a:lnSpc>
                <a:spcPts val="2163"/>
              </a:lnSpc>
              <a:spcBef>
                <a:spcPct val="0"/>
              </a:spcBef>
            </a:pPr>
          </a:p>
        </p:txBody>
      </p:sp>
      <p:sp>
        <p:nvSpPr>
          <p:cNvPr name="TextBox 10" id="10"/>
          <p:cNvSpPr txBox="true"/>
          <p:nvPr/>
        </p:nvSpPr>
        <p:spPr>
          <a:xfrm rot="0">
            <a:off x="1664527" y="4075902"/>
            <a:ext cx="14958947" cy="4343817"/>
          </a:xfrm>
          <a:prstGeom prst="rect">
            <a:avLst/>
          </a:prstGeom>
        </p:spPr>
        <p:txBody>
          <a:bodyPr anchor="t" rtlCol="false" tIns="0" lIns="0" bIns="0" rIns="0">
            <a:spAutoFit/>
          </a:bodyPr>
          <a:lstStyle/>
          <a:p>
            <a:pPr algn="ctr">
              <a:lnSpc>
                <a:spcPts val="4895"/>
              </a:lnSpc>
              <a:spcBef>
                <a:spcPct val="0"/>
              </a:spcBef>
            </a:pPr>
            <a:r>
              <a:rPr lang="en-US" sz="4332">
                <a:solidFill>
                  <a:srgbClr val="FFFFFF"/>
                </a:solidFill>
                <a:latin typeface="DM Sans"/>
                <a:ea typeface="DM Sans"/>
                <a:cs typeface="DM Sans"/>
                <a:sym typeface="DM Sans"/>
              </a:rPr>
              <a:t>Printer m</a:t>
            </a:r>
            <a:r>
              <a:rPr lang="en-US" sz="4332">
                <a:solidFill>
                  <a:srgbClr val="FFFFFF"/>
                </a:solidFill>
                <a:latin typeface="DM Sans"/>
                <a:ea typeface="DM Sans"/>
                <a:cs typeface="DM Sans"/>
                <a:sym typeface="DM Sans"/>
              </a:rPr>
              <a:t>onitoring using PowerShell is a method used to track and manage printer activities through command-line scripts in Windows systems. PowerShell interacts with the Print Spooler service, which handles all print jobs before they are sent to the printer. By using PowerShell commands, administrators can monitor printer status, view print queues, and manage print jobs efficiently.</a:t>
            </a:r>
          </a:p>
        </p:txBody>
      </p:sp>
      <p:sp>
        <p:nvSpPr>
          <p:cNvPr name="Freeform 11" id="11"/>
          <p:cNvSpPr/>
          <p:nvPr/>
        </p:nvSpPr>
        <p:spPr>
          <a:xfrm flipH="false" flipV="false" rot="-8100000">
            <a:off x="-9628551" y="6109475"/>
            <a:ext cx="12858750" cy="7922399"/>
          </a:xfrm>
          <a:custGeom>
            <a:avLst/>
            <a:gdLst/>
            <a:ahLst/>
            <a:cxnLst/>
            <a:rect r="r" b="b" t="t" l="l"/>
            <a:pathLst>
              <a:path h="7922399" w="12858750">
                <a:moveTo>
                  <a:pt x="0" y="0"/>
                </a:moveTo>
                <a:lnTo>
                  <a:pt x="12858750" y="0"/>
                </a:lnTo>
                <a:lnTo>
                  <a:pt x="12858750" y="7922399"/>
                </a:lnTo>
                <a:lnTo>
                  <a:pt x="0" y="7922399"/>
                </a:lnTo>
                <a:lnTo>
                  <a:pt x="0" y="0"/>
                </a:lnTo>
                <a:close/>
              </a:path>
            </a:pathLst>
          </a:custGeom>
          <a:blipFill>
            <a:blip r:embed="rId6"/>
            <a:stretch>
              <a:fillRect l="0" t="0" r="0" b="-3877"/>
            </a:stretch>
          </a:blipFill>
        </p:spPr>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4086199" y="7528329"/>
            <a:ext cx="7621689" cy="4526525"/>
          </a:xfrm>
          <a:custGeom>
            <a:avLst/>
            <a:gdLst/>
            <a:ahLst/>
            <a:cxnLst/>
            <a:rect r="r" b="b" t="t" l="l"/>
            <a:pathLst>
              <a:path h="4526525" w="7621689">
                <a:moveTo>
                  <a:pt x="0" y="0"/>
                </a:moveTo>
                <a:lnTo>
                  <a:pt x="7621689" y="0"/>
                </a:lnTo>
                <a:lnTo>
                  <a:pt x="7621689" y="4526525"/>
                </a:lnTo>
                <a:lnTo>
                  <a:pt x="0" y="4526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3000957" y="-881525"/>
            <a:ext cx="7621689" cy="4526525"/>
          </a:xfrm>
          <a:custGeom>
            <a:avLst/>
            <a:gdLst/>
            <a:ahLst/>
            <a:cxnLst/>
            <a:rect r="r" b="b" t="t" l="l"/>
            <a:pathLst>
              <a:path h="4526525" w="7621689">
                <a:moveTo>
                  <a:pt x="7621689" y="4526524"/>
                </a:moveTo>
                <a:lnTo>
                  <a:pt x="0" y="4526524"/>
                </a:lnTo>
                <a:lnTo>
                  <a:pt x="0" y="0"/>
                </a:lnTo>
                <a:lnTo>
                  <a:pt x="7621689" y="0"/>
                </a:lnTo>
                <a:lnTo>
                  <a:pt x="7621689" y="45265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4191081" y="-3558068"/>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3063316" y="-534640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477064" y="7293790"/>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7634066" y="740380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TextBox 8" id="8"/>
          <p:cNvSpPr txBox="true"/>
          <p:nvPr/>
        </p:nvSpPr>
        <p:spPr>
          <a:xfrm rot="0">
            <a:off x="17342917"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12</a:t>
            </a:r>
          </a:p>
        </p:txBody>
      </p:sp>
      <p:sp>
        <p:nvSpPr>
          <p:cNvPr name="TextBox 9" id="9"/>
          <p:cNvSpPr txBox="true"/>
          <p:nvPr/>
        </p:nvSpPr>
        <p:spPr>
          <a:xfrm rot="0">
            <a:off x="4185681" y="692762"/>
            <a:ext cx="9916639" cy="795021"/>
          </a:xfrm>
          <a:prstGeom prst="rect">
            <a:avLst/>
          </a:prstGeom>
        </p:spPr>
        <p:txBody>
          <a:bodyPr anchor="t" rtlCol="false" tIns="0" lIns="0" bIns="0" rIns="0">
            <a:spAutoFit/>
          </a:bodyPr>
          <a:lstStyle/>
          <a:p>
            <a:pPr algn="ctr">
              <a:lnSpc>
                <a:spcPts val="6579"/>
              </a:lnSpc>
              <a:spcBef>
                <a:spcPct val="0"/>
              </a:spcBef>
            </a:pPr>
            <a:r>
              <a:rPr lang="en-US" sz="4699">
                <a:solidFill>
                  <a:srgbClr val="569AFF"/>
                </a:solidFill>
                <a:latin typeface="Canva Sans"/>
                <a:ea typeface="Canva Sans"/>
                <a:cs typeface="Canva Sans"/>
                <a:sym typeface="Canva Sans"/>
              </a:rPr>
              <a:t>S</a:t>
            </a:r>
            <a:r>
              <a:rPr lang="en-US" sz="4699">
                <a:solidFill>
                  <a:srgbClr val="569AFF"/>
                </a:solidFill>
                <a:latin typeface="Canva Sans"/>
                <a:ea typeface="Canva Sans"/>
                <a:cs typeface="Canva Sans"/>
                <a:sym typeface="Canva Sans"/>
              </a:rPr>
              <a:t>YSTEM WORKFLOW</a:t>
            </a:r>
          </a:p>
        </p:txBody>
      </p:sp>
      <p:sp>
        <p:nvSpPr>
          <p:cNvPr name="TextBox 10" id="10"/>
          <p:cNvSpPr txBox="true"/>
          <p:nvPr/>
        </p:nvSpPr>
        <p:spPr>
          <a:xfrm rot="0">
            <a:off x="3677385" y="1844421"/>
            <a:ext cx="10933229" cy="6835441"/>
          </a:xfrm>
          <a:prstGeom prst="rect">
            <a:avLst/>
          </a:prstGeom>
        </p:spPr>
        <p:txBody>
          <a:bodyPr anchor="t" rtlCol="false" tIns="0" lIns="0" bIns="0" rIns="0">
            <a:spAutoFit/>
          </a:bodyPr>
          <a:lstStyle/>
          <a:p>
            <a:pPr algn="ctr">
              <a:lnSpc>
                <a:spcPts val="4952"/>
              </a:lnSpc>
              <a:spcBef>
                <a:spcPct val="0"/>
              </a:spcBef>
            </a:pPr>
            <a:r>
              <a:rPr lang="en-US" sz="3537">
                <a:solidFill>
                  <a:srgbClr val="FFFFFF"/>
                </a:solidFill>
                <a:latin typeface="Canva Sans"/>
                <a:ea typeface="Canva Sans"/>
                <a:cs typeface="Canva Sans"/>
                <a:sym typeface="Canva Sans"/>
              </a:rPr>
              <a:t>User → Printer connected system</a:t>
            </a:r>
          </a:p>
          <a:p>
            <a:pPr algn="ctr">
              <a:lnSpc>
                <a:spcPts val="4952"/>
              </a:lnSpc>
              <a:spcBef>
                <a:spcPct val="0"/>
              </a:spcBef>
            </a:pPr>
            <a:r>
              <a:rPr lang="en-US" sz="3537">
                <a:solidFill>
                  <a:srgbClr val="FFFFFF"/>
                </a:solidFill>
                <a:latin typeface="Canva Sans"/>
                <a:ea typeface="Canva Sans"/>
                <a:cs typeface="Canva Sans"/>
                <a:sym typeface="Canva Sans"/>
              </a:rPr>
              <a:t>        ↓</a:t>
            </a:r>
          </a:p>
          <a:p>
            <a:pPr algn="ctr">
              <a:lnSpc>
                <a:spcPts val="4952"/>
              </a:lnSpc>
              <a:spcBef>
                <a:spcPct val="0"/>
              </a:spcBef>
            </a:pPr>
            <a:r>
              <a:rPr lang="en-US" sz="3537">
                <a:solidFill>
                  <a:srgbClr val="FFFFFF"/>
                </a:solidFill>
                <a:latin typeface="Canva Sans"/>
                <a:ea typeface="Canva Sans"/>
                <a:cs typeface="Canva Sans"/>
                <a:sym typeface="Canva Sans"/>
              </a:rPr>
              <a:t>Send Print Job</a:t>
            </a:r>
          </a:p>
          <a:p>
            <a:pPr algn="ctr">
              <a:lnSpc>
                <a:spcPts val="4952"/>
              </a:lnSpc>
              <a:spcBef>
                <a:spcPct val="0"/>
              </a:spcBef>
            </a:pPr>
            <a:r>
              <a:rPr lang="en-US" sz="3537">
                <a:solidFill>
                  <a:srgbClr val="FFFFFF"/>
                </a:solidFill>
                <a:latin typeface="Canva Sans"/>
                <a:ea typeface="Canva Sans"/>
                <a:cs typeface="Canva Sans"/>
                <a:sym typeface="Canva Sans"/>
              </a:rPr>
              <a:t>        ↓</a:t>
            </a:r>
          </a:p>
          <a:p>
            <a:pPr algn="ctr">
              <a:lnSpc>
                <a:spcPts val="4952"/>
              </a:lnSpc>
              <a:spcBef>
                <a:spcPct val="0"/>
              </a:spcBef>
            </a:pPr>
            <a:r>
              <a:rPr lang="en-US" sz="3537">
                <a:solidFill>
                  <a:srgbClr val="FFFFFF"/>
                </a:solidFill>
                <a:latin typeface="Canva Sans"/>
                <a:ea typeface="Canva Sans"/>
                <a:cs typeface="Canva Sans"/>
                <a:sym typeface="Canva Sans"/>
              </a:rPr>
              <a:t>Print Spooler</a:t>
            </a:r>
          </a:p>
          <a:p>
            <a:pPr algn="ctr">
              <a:lnSpc>
                <a:spcPts val="4952"/>
              </a:lnSpc>
              <a:spcBef>
                <a:spcPct val="0"/>
              </a:spcBef>
            </a:pPr>
            <a:r>
              <a:rPr lang="en-US" sz="3537">
                <a:solidFill>
                  <a:srgbClr val="FFFFFF"/>
                </a:solidFill>
                <a:latin typeface="Canva Sans"/>
                <a:ea typeface="Canva Sans"/>
                <a:cs typeface="Canva Sans"/>
                <a:sym typeface="Canva Sans"/>
              </a:rPr>
              <a:t>        ↓</a:t>
            </a:r>
          </a:p>
          <a:p>
            <a:pPr algn="ctr">
              <a:lnSpc>
                <a:spcPts val="4952"/>
              </a:lnSpc>
              <a:spcBef>
                <a:spcPct val="0"/>
              </a:spcBef>
            </a:pPr>
            <a:r>
              <a:rPr lang="en-US" sz="3537">
                <a:solidFill>
                  <a:srgbClr val="FFFFFF"/>
                </a:solidFill>
                <a:latin typeface="Canva Sans"/>
                <a:ea typeface="Canva Sans"/>
                <a:cs typeface="Canva Sans"/>
                <a:sym typeface="Canva Sans"/>
              </a:rPr>
              <a:t>PowerShell Monitoring Script</a:t>
            </a:r>
          </a:p>
          <a:p>
            <a:pPr algn="ctr">
              <a:lnSpc>
                <a:spcPts val="4952"/>
              </a:lnSpc>
              <a:spcBef>
                <a:spcPct val="0"/>
              </a:spcBef>
            </a:pPr>
            <a:r>
              <a:rPr lang="en-US" sz="3537">
                <a:solidFill>
                  <a:srgbClr val="FFFFFF"/>
                </a:solidFill>
                <a:latin typeface="Canva Sans"/>
                <a:ea typeface="Canva Sans"/>
                <a:cs typeface="Canva Sans"/>
                <a:sym typeface="Canva Sans"/>
              </a:rPr>
              <a:t>        ↓</a:t>
            </a:r>
          </a:p>
          <a:p>
            <a:pPr algn="ctr">
              <a:lnSpc>
                <a:spcPts val="4952"/>
              </a:lnSpc>
              <a:spcBef>
                <a:spcPct val="0"/>
              </a:spcBef>
            </a:pPr>
            <a:r>
              <a:rPr lang="en-US" sz="3537">
                <a:solidFill>
                  <a:srgbClr val="FFFFFF"/>
                </a:solidFill>
                <a:latin typeface="Canva Sans"/>
                <a:ea typeface="Canva Sans"/>
                <a:cs typeface="Canva Sans"/>
                <a:sym typeface="Canva Sans"/>
              </a:rPr>
              <a:t>PHP stores data in MySQL</a:t>
            </a:r>
          </a:p>
          <a:p>
            <a:pPr algn="ctr">
              <a:lnSpc>
                <a:spcPts val="4952"/>
              </a:lnSpc>
              <a:spcBef>
                <a:spcPct val="0"/>
              </a:spcBef>
            </a:pPr>
            <a:r>
              <a:rPr lang="en-US" sz="3537">
                <a:solidFill>
                  <a:srgbClr val="FFFFFF"/>
                </a:solidFill>
                <a:latin typeface="Canva Sans"/>
                <a:ea typeface="Canva Sans"/>
                <a:cs typeface="Canva Sans"/>
                <a:sym typeface="Canva Sans"/>
              </a:rPr>
              <a:t>        ↓</a:t>
            </a:r>
          </a:p>
          <a:p>
            <a:pPr algn="ctr">
              <a:lnSpc>
                <a:spcPts val="4952"/>
              </a:lnSpc>
              <a:spcBef>
                <a:spcPct val="0"/>
              </a:spcBef>
            </a:pPr>
            <a:r>
              <a:rPr lang="en-US" sz="3537">
                <a:solidFill>
                  <a:srgbClr val="FFFFFF"/>
                </a:solidFill>
                <a:latin typeface="Canva Sans"/>
                <a:ea typeface="Canva Sans"/>
                <a:cs typeface="Canva Sans"/>
                <a:sym typeface="Canva Sans"/>
              </a:rPr>
              <a:t>Admin Dashboard shows logs</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7583687">
            <a:off x="-1282971" y="-10149034"/>
            <a:ext cx="17608566" cy="22831204"/>
          </a:xfrm>
          <a:custGeom>
            <a:avLst/>
            <a:gdLst/>
            <a:ahLst/>
            <a:cxnLst/>
            <a:rect r="r" b="b" t="t" l="l"/>
            <a:pathLst>
              <a:path h="22831204" w="17608566">
                <a:moveTo>
                  <a:pt x="0" y="0"/>
                </a:moveTo>
                <a:lnTo>
                  <a:pt x="17608566" y="0"/>
                </a:lnTo>
                <a:lnTo>
                  <a:pt x="17608566" y="22831204"/>
                </a:lnTo>
                <a:lnTo>
                  <a:pt x="0" y="228312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3782955" y="-3856026"/>
            <a:ext cx="4993590" cy="7152277"/>
          </a:xfrm>
          <a:custGeom>
            <a:avLst/>
            <a:gdLst/>
            <a:ahLst/>
            <a:cxnLst/>
            <a:rect r="r" b="b" t="t" l="l"/>
            <a:pathLst>
              <a:path h="7152277" w="4993590">
                <a:moveTo>
                  <a:pt x="4993589" y="7152277"/>
                </a:moveTo>
                <a:lnTo>
                  <a:pt x="0" y="7152277"/>
                </a:lnTo>
                <a:lnTo>
                  <a:pt x="0" y="0"/>
                </a:lnTo>
                <a:lnTo>
                  <a:pt x="4993589" y="0"/>
                </a:lnTo>
                <a:lnTo>
                  <a:pt x="4993589" y="7152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700000">
            <a:off x="12551731" y="-5808424"/>
            <a:ext cx="14038382" cy="8984564"/>
          </a:xfrm>
          <a:custGeom>
            <a:avLst/>
            <a:gdLst/>
            <a:ahLst/>
            <a:cxnLst/>
            <a:rect r="r" b="b" t="t" l="l"/>
            <a:pathLst>
              <a:path h="8984564" w="14038382">
                <a:moveTo>
                  <a:pt x="0" y="0"/>
                </a:moveTo>
                <a:lnTo>
                  <a:pt x="14038382" y="0"/>
                </a:lnTo>
                <a:lnTo>
                  <a:pt x="14038382" y="8984564"/>
                </a:lnTo>
                <a:lnTo>
                  <a:pt x="0" y="8984564"/>
                </a:lnTo>
                <a:lnTo>
                  <a:pt x="0" y="0"/>
                </a:lnTo>
                <a:close/>
              </a:path>
            </a:pathLst>
          </a:custGeom>
          <a:blipFill>
            <a:blip r:embed="rId6"/>
            <a:stretch>
              <a:fillRect l="0" t="0" r="0" b="0"/>
            </a:stretch>
          </a:blipFill>
        </p:spPr>
      </p:sp>
      <p:sp>
        <p:nvSpPr>
          <p:cNvPr name="Freeform 5" id="5"/>
          <p:cNvSpPr/>
          <p:nvPr/>
        </p:nvSpPr>
        <p:spPr>
          <a:xfrm flipH="false" flipV="false" rot="3216312">
            <a:off x="1962405" y="-2318970"/>
            <a:ext cx="17608566" cy="22831204"/>
          </a:xfrm>
          <a:custGeom>
            <a:avLst/>
            <a:gdLst/>
            <a:ahLst/>
            <a:cxnLst/>
            <a:rect r="r" b="b" t="t" l="l"/>
            <a:pathLst>
              <a:path h="22831204" w="17608566">
                <a:moveTo>
                  <a:pt x="0" y="0"/>
                </a:moveTo>
                <a:lnTo>
                  <a:pt x="17608566" y="0"/>
                </a:lnTo>
                <a:lnTo>
                  <a:pt x="17608566" y="22831204"/>
                </a:lnTo>
                <a:lnTo>
                  <a:pt x="0" y="228312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10800000">
            <a:off x="-488544" y="7066949"/>
            <a:ext cx="4993590" cy="7152277"/>
          </a:xfrm>
          <a:custGeom>
            <a:avLst/>
            <a:gdLst/>
            <a:ahLst/>
            <a:cxnLst/>
            <a:rect r="r" b="b" t="t" l="l"/>
            <a:pathLst>
              <a:path h="7152277" w="4993590">
                <a:moveTo>
                  <a:pt x="4993589" y="7152277"/>
                </a:moveTo>
                <a:lnTo>
                  <a:pt x="0" y="7152277"/>
                </a:lnTo>
                <a:lnTo>
                  <a:pt x="0" y="0"/>
                </a:lnTo>
                <a:lnTo>
                  <a:pt x="4993589" y="0"/>
                </a:lnTo>
                <a:lnTo>
                  <a:pt x="4993589" y="7152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8302113" y="7187060"/>
            <a:ext cx="14038382" cy="8984564"/>
          </a:xfrm>
          <a:custGeom>
            <a:avLst/>
            <a:gdLst/>
            <a:ahLst/>
            <a:cxnLst/>
            <a:rect r="r" b="b" t="t" l="l"/>
            <a:pathLst>
              <a:path h="8984564" w="14038382">
                <a:moveTo>
                  <a:pt x="0" y="0"/>
                </a:moveTo>
                <a:lnTo>
                  <a:pt x="14038382" y="0"/>
                </a:lnTo>
                <a:lnTo>
                  <a:pt x="14038382" y="8984564"/>
                </a:lnTo>
                <a:lnTo>
                  <a:pt x="0" y="8984564"/>
                </a:lnTo>
                <a:lnTo>
                  <a:pt x="0" y="0"/>
                </a:lnTo>
                <a:close/>
              </a:path>
            </a:pathLst>
          </a:custGeom>
          <a:blipFill>
            <a:blip r:embed="rId6"/>
            <a:stretch>
              <a:fillRect l="0" t="0" r="0" b="0"/>
            </a:stretch>
          </a:blipFill>
        </p:spPr>
      </p:sp>
      <p:sp>
        <p:nvSpPr>
          <p:cNvPr name="Freeform 8" id="8"/>
          <p:cNvSpPr/>
          <p:nvPr/>
        </p:nvSpPr>
        <p:spPr>
          <a:xfrm flipH="false" flipV="false" rot="0">
            <a:off x="784075" y="1028700"/>
            <a:ext cx="16757700" cy="8965370"/>
          </a:xfrm>
          <a:custGeom>
            <a:avLst/>
            <a:gdLst/>
            <a:ahLst/>
            <a:cxnLst/>
            <a:rect r="r" b="b" t="t" l="l"/>
            <a:pathLst>
              <a:path h="8965370" w="16757700">
                <a:moveTo>
                  <a:pt x="0" y="0"/>
                </a:moveTo>
                <a:lnTo>
                  <a:pt x="16757701" y="0"/>
                </a:lnTo>
                <a:lnTo>
                  <a:pt x="16757701" y="8965370"/>
                </a:lnTo>
                <a:lnTo>
                  <a:pt x="0" y="8965370"/>
                </a:lnTo>
                <a:lnTo>
                  <a:pt x="0" y="0"/>
                </a:lnTo>
                <a:close/>
              </a:path>
            </a:pathLst>
          </a:custGeom>
          <a:blipFill>
            <a:blip r:embed="rId7"/>
            <a:stretch>
              <a:fillRect l="0" t="0" r="0" b="0"/>
            </a:stretch>
          </a:blipFill>
        </p:spPr>
      </p:sp>
      <p:sp>
        <p:nvSpPr>
          <p:cNvPr name="TextBox 9" id="9"/>
          <p:cNvSpPr txBox="true"/>
          <p:nvPr/>
        </p:nvSpPr>
        <p:spPr>
          <a:xfrm rot="0">
            <a:off x="17259300" y="92487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8AFAFC"/>
                </a:solidFill>
                <a:latin typeface="Canva Sans"/>
                <a:ea typeface="Canva Sans"/>
                <a:cs typeface="Canva Sans"/>
                <a:sym typeface="Canva Sans"/>
              </a:rPr>
              <a:t>13</a:t>
            </a:r>
          </a:p>
        </p:txBody>
      </p:sp>
      <p:sp>
        <p:nvSpPr>
          <p:cNvPr name="TextBox 10" id="10"/>
          <p:cNvSpPr txBox="true"/>
          <p:nvPr/>
        </p:nvSpPr>
        <p:spPr>
          <a:xfrm rot="0">
            <a:off x="5216947" y="51433"/>
            <a:ext cx="7854107" cy="977267"/>
          </a:xfrm>
          <a:prstGeom prst="rect">
            <a:avLst/>
          </a:prstGeom>
        </p:spPr>
        <p:txBody>
          <a:bodyPr anchor="t" rtlCol="false" tIns="0" lIns="0" bIns="0" rIns="0">
            <a:spAutoFit/>
          </a:bodyPr>
          <a:lstStyle/>
          <a:p>
            <a:pPr algn="ctr">
              <a:lnSpc>
                <a:spcPts val="7559"/>
              </a:lnSpc>
              <a:spcBef>
                <a:spcPct val="0"/>
              </a:spcBef>
            </a:pPr>
            <a:r>
              <a:rPr lang="en-US" sz="5399">
                <a:solidFill>
                  <a:srgbClr val="8AFAFC"/>
                </a:solidFill>
                <a:latin typeface="Poppins"/>
                <a:ea typeface="Poppins"/>
                <a:cs typeface="Poppins"/>
                <a:sym typeface="Poppins"/>
              </a:rPr>
              <a:t>IMAGE REPRESENTATION</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Freeform 2" id="2"/>
          <p:cNvSpPr/>
          <p:nvPr/>
        </p:nvSpPr>
        <p:spPr>
          <a:xfrm flipH="false" flipV="false" rot="-2126066">
            <a:off x="14086199" y="7528329"/>
            <a:ext cx="7621689" cy="4526525"/>
          </a:xfrm>
          <a:custGeom>
            <a:avLst/>
            <a:gdLst/>
            <a:ahLst/>
            <a:cxnLst/>
            <a:rect r="r" b="b" t="t" l="l"/>
            <a:pathLst>
              <a:path h="4526525" w="7621689">
                <a:moveTo>
                  <a:pt x="0" y="0"/>
                </a:moveTo>
                <a:lnTo>
                  <a:pt x="7621689" y="0"/>
                </a:lnTo>
                <a:lnTo>
                  <a:pt x="7621689" y="4526525"/>
                </a:lnTo>
                <a:lnTo>
                  <a:pt x="0" y="4526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2126066">
            <a:off x="-3000957" y="-881525"/>
            <a:ext cx="7621689" cy="4526525"/>
          </a:xfrm>
          <a:custGeom>
            <a:avLst/>
            <a:gdLst/>
            <a:ahLst/>
            <a:cxnLst/>
            <a:rect r="r" b="b" t="t" l="l"/>
            <a:pathLst>
              <a:path h="4526525" w="7621689">
                <a:moveTo>
                  <a:pt x="7621689" y="4526524"/>
                </a:moveTo>
                <a:lnTo>
                  <a:pt x="0" y="4526524"/>
                </a:lnTo>
                <a:lnTo>
                  <a:pt x="0" y="0"/>
                </a:lnTo>
                <a:lnTo>
                  <a:pt x="7621689" y="0"/>
                </a:lnTo>
                <a:lnTo>
                  <a:pt x="7621689" y="45265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4191081" y="-3558068"/>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3063316" y="-534640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Freeform 6" id="6"/>
          <p:cNvSpPr/>
          <p:nvPr/>
        </p:nvSpPr>
        <p:spPr>
          <a:xfrm flipH="true" flipV="true" rot="-10800000">
            <a:off x="-477064" y="7293790"/>
            <a:ext cx="4573983" cy="6551278"/>
          </a:xfrm>
          <a:custGeom>
            <a:avLst/>
            <a:gdLst/>
            <a:ahLst/>
            <a:cxnLst/>
            <a:rect r="r" b="b" t="t" l="l"/>
            <a:pathLst>
              <a:path h="6551278" w="4573983">
                <a:moveTo>
                  <a:pt x="4573983" y="6551278"/>
                </a:moveTo>
                <a:lnTo>
                  <a:pt x="0" y="6551278"/>
                </a:lnTo>
                <a:lnTo>
                  <a:pt x="0" y="0"/>
                </a:lnTo>
                <a:lnTo>
                  <a:pt x="4573983" y="0"/>
                </a:lnTo>
                <a:lnTo>
                  <a:pt x="4573983" y="655127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00000">
            <a:off x="-7634066" y="7403808"/>
            <a:ext cx="12858750" cy="8229600"/>
          </a:xfrm>
          <a:custGeom>
            <a:avLst/>
            <a:gdLst/>
            <a:ahLst/>
            <a:cxnLst/>
            <a:rect r="r" b="b" t="t" l="l"/>
            <a:pathLst>
              <a:path h="8229600" w="12858750">
                <a:moveTo>
                  <a:pt x="0" y="0"/>
                </a:moveTo>
                <a:lnTo>
                  <a:pt x="12858750" y="0"/>
                </a:lnTo>
                <a:lnTo>
                  <a:pt x="12858750" y="8229600"/>
                </a:lnTo>
                <a:lnTo>
                  <a:pt x="0" y="8229600"/>
                </a:lnTo>
                <a:lnTo>
                  <a:pt x="0" y="0"/>
                </a:lnTo>
                <a:close/>
              </a:path>
            </a:pathLst>
          </a:custGeom>
          <a:blipFill>
            <a:blip r:embed="rId6"/>
            <a:stretch>
              <a:fillRect l="0" t="0" r="0" b="0"/>
            </a:stretch>
          </a:blipFill>
        </p:spPr>
      </p:sp>
      <p:sp>
        <p:nvSpPr>
          <p:cNvPr name="TextBox 8" id="8"/>
          <p:cNvSpPr txBox="true"/>
          <p:nvPr/>
        </p:nvSpPr>
        <p:spPr>
          <a:xfrm rot="0">
            <a:off x="17342917"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14</a:t>
            </a:r>
          </a:p>
        </p:txBody>
      </p:sp>
      <p:sp>
        <p:nvSpPr>
          <p:cNvPr name="TextBox 9" id="9"/>
          <p:cNvSpPr txBox="true"/>
          <p:nvPr/>
        </p:nvSpPr>
        <p:spPr>
          <a:xfrm rot="0">
            <a:off x="4719372" y="509878"/>
            <a:ext cx="8760500" cy="1227550"/>
          </a:xfrm>
          <a:prstGeom prst="rect">
            <a:avLst/>
          </a:prstGeom>
        </p:spPr>
        <p:txBody>
          <a:bodyPr anchor="t" rtlCol="false" tIns="0" lIns="0" bIns="0" rIns="0">
            <a:spAutoFit/>
          </a:bodyPr>
          <a:lstStyle/>
          <a:p>
            <a:pPr algn="ctr">
              <a:lnSpc>
                <a:spcPts val="10039"/>
              </a:lnSpc>
              <a:spcBef>
                <a:spcPct val="0"/>
              </a:spcBef>
            </a:pPr>
            <a:r>
              <a:rPr lang="en-US" sz="7171">
                <a:solidFill>
                  <a:srgbClr val="FFFFFF"/>
                </a:solidFill>
                <a:latin typeface="FB Magic POP DS"/>
                <a:ea typeface="FB Magic POP DS"/>
                <a:cs typeface="FB Magic POP DS"/>
                <a:sym typeface="FB Magic POP DS"/>
              </a:rPr>
              <a:t>ANY QUESTIONS</a:t>
            </a: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90F29"/>
        </a:solidFill>
      </p:bgPr>
    </p:bg>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15</a:t>
            </a:r>
          </a:p>
        </p:txBody>
      </p:sp>
      <p:sp>
        <p:nvSpPr>
          <p:cNvPr name="Freeform 3" id="3"/>
          <p:cNvSpPr/>
          <p:nvPr/>
        </p:nvSpPr>
        <p:spPr>
          <a:xfrm flipH="false" flipV="false" rot="-7583687">
            <a:off x="-1282971" y="-10187134"/>
            <a:ext cx="17608566" cy="22831204"/>
          </a:xfrm>
          <a:custGeom>
            <a:avLst/>
            <a:gdLst/>
            <a:ahLst/>
            <a:cxnLst/>
            <a:rect r="r" b="b" t="t" l="l"/>
            <a:pathLst>
              <a:path h="22831204" w="17608566">
                <a:moveTo>
                  <a:pt x="0" y="0"/>
                </a:moveTo>
                <a:lnTo>
                  <a:pt x="17608566" y="0"/>
                </a:lnTo>
                <a:lnTo>
                  <a:pt x="17608566" y="22831204"/>
                </a:lnTo>
                <a:lnTo>
                  <a:pt x="0" y="228312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3782955" y="-3894126"/>
            <a:ext cx="4993590" cy="7152277"/>
          </a:xfrm>
          <a:custGeom>
            <a:avLst/>
            <a:gdLst/>
            <a:ahLst/>
            <a:cxnLst/>
            <a:rect r="r" b="b" t="t" l="l"/>
            <a:pathLst>
              <a:path h="7152277" w="4993590">
                <a:moveTo>
                  <a:pt x="4993589" y="7152277"/>
                </a:moveTo>
                <a:lnTo>
                  <a:pt x="0" y="7152277"/>
                </a:lnTo>
                <a:lnTo>
                  <a:pt x="0" y="0"/>
                </a:lnTo>
                <a:lnTo>
                  <a:pt x="4993589" y="0"/>
                </a:lnTo>
                <a:lnTo>
                  <a:pt x="4993589" y="7152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00000">
            <a:off x="12551731" y="-5846524"/>
            <a:ext cx="14038382" cy="8984564"/>
          </a:xfrm>
          <a:custGeom>
            <a:avLst/>
            <a:gdLst/>
            <a:ahLst/>
            <a:cxnLst/>
            <a:rect r="r" b="b" t="t" l="l"/>
            <a:pathLst>
              <a:path h="8984564" w="14038382">
                <a:moveTo>
                  <a:pt x="0" y="0"/>
                </a:moveTo>
                <a:lnTo>
                  <a:pt x="14038382" y="0"/>
                </a:lnTo>
                <a:lnTo>
                  <a:pt x="14038382" y="8984564"/>
                </a:lnTo>
                <a:lnTo>
                  <a:pt x="0" y="8984564"/>
                </a:lnTo>
                <a:lnTo>
                  <a:pt x="0" y="0"/>
                </a:lnTo>
                <a:close/>
              </a:path>
            </a:pathLst>
          </a:custGeom>
          <a:blipFill>
            <a:blip r:embed="rId6"/>
            <a:stretch>
              <a:fillRect l="0" t="0" r="0" b="0"/>
            </a:stretch>
          </a:blipFill>
        </p:spPr>
      </p:sp>
      <p:sp>
        <p:nvSpPr>
          <p:cNvPr name="Freeform 6" id="6"/>
          <p:cNvSpPr/>
          <p:nvPr/>
        </p:nvSpPr>
        <p:spPr>
          <a:xfrm flipH="false" flipV="false" rot="3216312">
            <a:off x="3425833" y="-1320216"/>
            <a:ext cx="17608566" cy="22831204"/>
          </a:xfrm>
          <a:custGeom>
            <a:avLst/>
            <a:gdLst/>
            <a:ahLst/>
            <a:cxnLst/>
            <a:rect r="r" b="b" t="t" l="l"/>
            <a:pathLst>
              <a:path h="22831204" w="17608566">
                <a:moveTo>
                  <a:pt x="0" y="0"/>
                </a:moveTo>
                <a:lnTo>
                  <a:pt x="17608566" y="0"/>
                </a:lnTo>
                <a:lnTo>
                  <a:pt x="17608566" y="22831204"/>
                </a:lnTo>
                <a:lnTo>
                  <a:pt x="0" y="228312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true" rot="-10800000">
            <a:off x="-488544" y="7028849"/>
            <a:ext cx="4993590" cy="7152277"/>
          </a:xfrm>
          <a:custGeom>
            <a:avLst/>
            <a:gdLst/>
            <a:ahLst/>
            <a:cxnLst/>
            <a:rect r="r" b="b" t="t" l="l"/>
            <a:pathLst>
              <a:path h="7152277" w="4993590">
                <a:moveTo>
                  <a:pt x="4993589" y="7152277"/>
                </a:moveTo>
                <a:lnTo>
                  <a:pt x="0" y="7152277"/>
                </a:lnTo>
                <a:lnTo>
                  <a:pt x="0" y="0"/>
                </a:lnTo>
                <a:lnTo>
                  <a:pt x="4993589" y="0"/>
                </a:lnTo>
                <a:lnTo>
                  <a:pt x="4993589" y="71522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8100000">
            <a:off x="-8302113" y="7148960"/>
            <a:ext cx="14038382" cy="8984564"/>
          </a:xfrm>
          <a:custGeom>
            <a:avLst/>
            <a:gdLst/>
            <a:ahLst/>
            <a:cxnLst/>
            <a:rect r="r" b="b" t="t" l="l"/>
            <a:pathLst>
              <a:path h="8984564" w="14038382">
                <a:moveTo>
                  <a:pt x="0" y="0"/>
                </a:moveTo>
                <a:lnTo>
                  <a:pt x="14038382" y="0"/>
                </a:lnTo>
                <a:lnTo>
                  <a:pt x="14038382" y="8984564"/>
                </a:lnTo>
                <a:lnTo>
                  <a:pt x="0" y="8984564"/>
                </a:lnTo>
                <a:lnTo>
                  <a:pt x="0" y="0"/>
                </a:lnTo>
                <a:close/>
              </a:path>
            </a:pathLst>
          </a:custGeom>
          <a:blipFill>
            <a:blip r:embed="rId6"/>
            <a:stretch>
              <a:fillRect l="0" t="0" r="0" b="0"/>
            </a:stretch>
          </a:blipFill>
        </p:spPr>
      </p:sp>
      <p:sp>
        <p:nvSpPr>
          <p:cNvPr name="Freeform 9" id="9"/>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7"/>
            <a:stretch>
              <a:fillRect l="0" t="-36498" r="0" b="-41279"/>
            </a:stretch>
          </a:blipFill>
        </p:spPr>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DAHBRfW8g4g</dc:identifier>
  <dcterms:modified xsi:type="dcterms:W3CDTF">2011-08-01T06:04:30Z</dcterms:modified>
  <cp:revision>1</cp:revision>
  <dc:title>PRINTER MANAGEMENT</dc:title>
</cp:coreProperties>
</file>